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6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9243617303457a" /><Relationship Type="http://schemas.openxmlformats.org/officeDocument/2006/relationships/extended-properties" Target="/docProps/app.xml" Id="R2ee6faeb60664911" /><Relationship Type="http://schemas.openxmlformats.org/officeDocument/2006/relationships/officeDocument" Target="/ppt/presentation.xml" Id="Rad574ca5505446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002d8a1a024690"/>
  </p:sldMasterIdLst>
  <p:notesMasterIdLst>
    <p:notesMasterId xmlns:r="http://schemas.openxmlformats.org/officeDocument/2006/relationships" r:id="Ra0cedcc5d2884f40"/>
  </p:notesMasterIdLst>
  <p:sldIdLst>
    <p:sldId xmlns:r="http://schemas.openxmlformats.org/officeDocument/2006/relationships" id="256" r:id="Rd5a207e0a93c4dc3"/>
    <p:sldId xmlns:r="http://schemas.openxmlformats.org/officeDocument/2006/relationships" id="257" r:id="Rf5d84e2a30d249f3"/>
    <p:sldId xmlns:r="http://schemas.openxmlformats.org/officeDocument/2006/relationships" id="258" r:id="R5acc59348da948c4"/>
    <p:sldId xmlns:r="http://schemas.openxmlformats.org/officeDocument/2006/relationships" id="259" r:id="Rc6a879461ac34454"/>
    <p:sldId xmlns:r="http://schemas.openxmlformats.org/officeDocument/2006/relationships" id="260" r:id="R6b7dc9b8dc964055"/>
    <p:sldId xmlns:r="http://schemas.openxmlformats.org/officeDocument/2006/relationships" id="261" r:id="Re501a762abb34284"/>
    <p:sldId xmlns:r="http://schemas.openxmlformats.org/officeDocument/2006/relationships" id="262" r:id="Rd82a2d73c6634d7b"/>
    <p:sldId xmlns:r="http://schemas.openxmlformats.org/officeDocument/2006/relationships" id="263" r:id="R594f11231f2d4b70"/>
    <p:sldId xmlns:r="http://schemas.openxmlformats.org/officeDocument/2006/relationships" id="264" r:id="R5dc6fc47499a4757"/>
    <p:sldId xmlns:r="http://schemas.openxmlformats.org/officeDocument/2006/relationships" id="265" r:id="R458fbc989dd044b6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bf2e99a774f19" /><Relationship Type="http://schemas.openxmlformats.org/officeDocument/2006/relationships/slideMaster" Target="/ppt/slideMasters/slideMaster1.xml" Id="Rb2002d8a1a024690" /><Relationship Type="http://schemas.openxmlformats.org/officeDocument/2006/relationships/notesMaster" Target="/ppt/notesMasters/notesMaster1.xml" Id="Ra0cedcc5d2884f40" /><Relationship Type="http://schemas.openxmlformats.org/officeDocument/2006/relationships/presProps" Target="/ppt/presProps.xml" Id="R0c86594885f14dde" /><Relationship Type="http://schemas.openxmlformats.org/officeDocument/2006/relationships/tableStyles" Target="/ppt/tableStyles.xml" Id="R6208623d951a4f6a" /><Relationship Type="http://schemas.openxmlformats.org/officeDocument/2006/relationships/slide" Target="/ppt/slides/slide1.xml" Id="Rd5a207e0a93c4dc3" /><Relationship Type="http://schemas.openxmlformats.org/officeDocument/2006/relationships/slide" Target="/ppt/slides/slide2.xml" Id="Rf5d84e2a30d249f3" /><Relationship Type="http://schemas.openxmlformats.org/officeDocument/2006/relationships/slide" Target="/ppt/slides/slide3.xml" Id="R5acc59348da948c4" /><Relationship Type="http://schemas.openxmlformats.org/officeDocument/2006/relationships/slide" Target="/ppt/slides/slide4.xml" Id="Rc6a879461ac34454" /><Relationship Type="http://schemas.openxmlformats.org/officeDocument/2006/relationships/slide" Target="/ppt/slides/slide5.xml" Id="R6b7dc9b8dc964055" /><Relationship Type="http://schemas.openxmlformats.org/officeDocument/2006/relationships/slide" Target="/ppt/slides/slide6.xml" Id="Re501a762abb34284" /><Relationship Type="http://schemas.openxmlformats.org/officeDocument/2006/relationships/slide" Target="/ppt/slides/slide7.xml" Id="Rd82a2d73c6634d7b" /><Relationship Type="http://schemas.openxmlformats.org/officeDocument/2006/relationships/slide" Target="/ppt/slides/slide8.xml" Id="R594f11231f2d4b70" /><Relationship Type="http://schemas.openxmlformats.org/officeDocument/2006/relationships/slide" Target="/ppt/slides/slide9.xml" Id="R5dc6fc47499a4757" /><Relationship Type="http://schemas.openxmlformats.org/officeDocument/2006/relationships/slide" Target="/ppt/slides/slide10.xml" Id="R458fbc989dd0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50c9fa191d4d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BCI Executive">
      <a:dk1>
        <a:srgbClr val="071B2D"/>
      </a:dk1>
      <a:lt1>
        <a:srgbClr val="FFFFFF"/>
      </a:lt1>
      <a:dk2>
        <a:srgbClr val="0D2941"/>
      </a:dk2>
      <a:lt2>
        <a:srgbClr val="F6F1E7"/>
      </a:lt2>
      <a:accent1>
        <a:srgbClr val="00A6A6"/>
      </a:accent1>
      <a:accent2>
        <a:srgbClr val="FF6B5C"/>
      </a:accent2>
      <a:accent3>
        <a:srgbClr val="D6A33D"/>
      </a:accent3>
      <a:accent4>
        <a:srgbClr val="75C8FF"/>
      </a:accent4>
      <a:accent5>
        <a:srgbClr val="4CB782"/>
      </a:accent5>
      <a:accent6>
        <a:srgbClr val="007B7B"/>
      </a:accent6>
      <a:hlink>
        <a:srgbClr val="00A6A6"/>
      </a:hlink>
      <a:folHlink>
        <a:srgbClr val="007B7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BCI Executiv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0ebb7a4654acf" /><Relationship Type="http://schemas.openxmlformats.org/officeDocument/2006/relationships/notesMaster" Target="/ppt/notesMasters/notesMaster1.xml" Id="R3a062f23f83447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02e8ef5e494b4c" /><Relationship Type="http://schemas.openxmlformats.org/officeDocument/2006/relationships/notesMaster" Target="/ppt/notesMasters/notesMaster1.xml" Id="Rc4620ddd51824b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b8397e088e41f2" /><Relationship Type="http://schemas.openxmlformats.org/officeDocument/2006/relationships/notesMaster" Target="/ppt/notesMasters/notesMaster1.xml" Id="Re04d84208ee943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e1994e1d69429b" /><Relationship Type="http://schemas.openxmlformats.org/officeDocument/2006/relationships/notesMaster" Target="/ppt/notesMasters/notesMaster1.xml" Id="R258f6635b30445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6397675acc4637" /><Relationship Type="http://schemas.openxmlformats.org/officeDocument/2006/relationships/notesMaster" Target="/ppt/notesMasters/notesMaster1.xml" Id="R1d9dea640a4f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c555a395d647ff" /><Relationship Type="http://schemas.openxmlformats.org/officeDocument/2006/relationships/notesMaster" Target="/ppt/notesMasters/notesMaster1.xml" Id="Rb3da4139b97647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7bb7b02c1d415d" /><Relationship Type="http://schemas.openxmlformats.org/officeDocument/2006/relationships/notesMaster" Target="/ppt/notesMasters/notesMaster1.xml" Id="Rac51c93db5d54a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f6326fbfcb4eb4" /><Relationship Type="http://schemas.openxmlformats.org/officeDocument/2006/relationships/notesMaster" Target="/ppt/notesMasters/notesMaster1.xml" Id="Rfc4eb384ccf84f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69b17a60f44264" /><Relationship Type="http://schemas.openxmlformats.org/officeDocument/2006/relationships/notesMaster" Target="/ppt/notesMasters/notesMaster1.xml" Id="R564afb8d31944c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0569cf5f0d42e2" /><Relationship Type="http://schemas.openxmlformats.org/officeDocument/2006/relationships/notesMaster" Target="/ppt/notesMasters/notesMaster1.xml" Id="Rbb6f3209303740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b3049955d45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9842f77e4a41f9" /><Relationship Type="http://schemas.openxmlformats.org/officeDocument/2006/relationships/slideLayout" Target="/ppt/slideLayouts/slideLayout1.xml" Id="R9371d26c6918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1d26c6918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BCI Executive">
      <a:dk1>
        <a:srgbClr val="071B2D"/>
      </a:dk1>
      <a:lt1>
        <a:srgbClr val="FFFFFF"/>
      </a:lt1>
      <a:dk2>
        <a:srgbClr val="0D2941"/>
      </a:dk2>
      <a:lt2>
        <a:srgbClr val="F6F1E7"/>
      </a:lt2>
      <a:accent1>
        <a:srgbClr val="00A6A6"/>
      </a:accent1>
      <a:accent2>
        <a:srgbClr val="FF6B5C"/>
      </a:accent2>
      <a:accent3>
        <a:srgbClr val="D6A33D"/>
      </a:accent3>
      <a:accent4>
        <a:srgbClr val="75C8FF"/>
      </a:accent4>
      <a:accent5>
        <a:srgbClr val="4CB782"/>
      </a:accent5>
      <a:accent6>
        <a:srgbClr val="007B7B"/>
      </a:accent6>
      <a:hlink>
        <a:srgbClr val="00A6A6"/>
      </a:hlink>
      <a:folHlink>
        <a:srgbClr val="007B7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BCI Executiv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7daa5ab9848f2" /><Relationship Type="http://schemas.openxmlformats.org/officeDocument/2006/relationships/notesSlide" Target="/ppt/notesSlides/notesSlide1.xml" Id="Re92250988f854b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382e42f154130" /><Relationship Type="http://schemas.openxmlformats.org/officeDocument/2006/relationships/chart" Target="/ppt/slides/charts/chart1.xml" Id="R42985d23511b40c5" /><Relationship Type="http://schemas.openxmlformats.org/officeDocument/2006/relationships/notesSlide" Target="/ppt/notesSlides/notesSlide2.xml" Id="Rff8d8590284348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430766a294333" /><Relationship Type="http://schemas.openxmlformats.org/officeDocument/2006/relationships/chart" Target="/ppt/slides/charts/chart2.xml" Id="Rfe165de5207e41f5" /><Relationship Type="http://schemas.openxmlformats.org/officeDocument/2006/relationships/notesSlide" Target="/ppt/notesSlides/notesSlide3.xml" Id="R4b92520190c844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c91a6bc9d4edf" /><Relationship Type="http://schemas.openxmlformats.org/officeDocument/2006/relationships/chart" Target="/ppt/slides/charts/chart3.xml" Id="R4983cb1276364982" /><Relationship Type="http://schemas.openxmlformats.org/officeDocument/2006/relationships/notesSlide" Target="/ppt/notesSlides/notesSlide4.xml" Id="R6927e91fb1ea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9e24e71cf41ce" /><Relationship Type="http://schemas.openxmlformats.org/officeDocument/2006/relationships/chart" Target="/ppt/slides/charts/chart4.xml" Id="Rea7bdde757394572" /><Relationship Type="http://schemas.openxmlformats.org/officeDocument/2006/relationships/notesSlide" Target="/ppt/notesSlides/notesSlide5.xml" Id="Rcb9ef39af41f4b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390cc113b42be" /><Relationship Type="http://schemas.openxmlformats.org/officeDocument/2006/relationships/chart" Target="/ppt/slides/charts/chart5.xml" Id="R2df837eb94754507" /><Relationship Type="http://schemas.openxmlformats.org/officeDocument/2006/relationships/notesSlide" Target="/ppt/notesSlides/notesSlide6.xml" Id="R3423b69e89ac4c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f83e4002c4786" /><Relationship Type="http://schemas.openxmlformats.org/officeDocument/2006/relationships/chart" Target="/ppt/slides/charts/chart6.xml" Id="Re31744a4f38846ab" /><Relationship Type="http://schemas.openxmlformats.org/officeDocument/2006/relationships/notesSlide" Target="/ppt/notesSlides/notesSlide7.xml" Id="Rc0b1eb80bf6c44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1c65e8464210" /><Relationship Type="http://schemas.openxmlformats.org/officeDocument/2006/relationships/notesSlide" Target="/ppt/notesSlides/notesSlide8.xml" Id="Re8c522b98e6547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2ce0d2e9a48f1" /><Relationship Type="http://schemas.openxmlformats.org/officeDocument/2006/relationships/notesSlide" Target="/ppt/notesSlides/notesSlide9.xml" Id="R92cc6c4e592d4f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b7e75814147e9" /><Relationship Type="http://schemas.openxmlformats.org/officeDocument/2006/relationships/notesSlide" Target="/ppt/notesSlides/notesSlide10.xml" Id="R3dfb91399434433e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US 10Y Treasury yield</c:v>
          </c:tx>
          <c:spPr>
            <a:ln xmlns:a="http://schemas.openxmlformats.org/drawingml/2006/main" w="57150">
              <a:solidFill>
                <a:srgbClr val="FF6B5C"/>
              </a:solidFill>
              <a:prstDash val="solid"/>
            </a:ln>
          </c:spPr>
          <c:marker>
            <c:symbol val="circle"/>
            <c:size val="11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Aug ’20</c:v>
              </c:pt>
              <c:pt idx="1">
                <c:v>Dec ’21</c:v>
              </c:pt>
              <c:pt idx="2">
                <c:v>Dec ’22</c:v>
              </c:pt>
              <c:pt idx="3">
                <c:v>Oct ’23</c:v>
              </c:pt>
              <c:pt idx="4">
                <c:v>Dec ’24</c:v>
              </c:pt>
              <c:pt idx="5">
                <c:v>Dec ’25</c:v>
              </c:pt>
              <c:pt idx="6">
                <c:v>Jun ’26</c:v>
              </c:pt>
            </c:strLit>
          </c:cat>
          <c:val>
            <c:numLit>
              <c:formatCode>0.0%</c:formatCode>
              <c:ptCount val="7"/>
              <c:pt idx="0">
                <c:v>0.52</c:v>
              </c:pt>
              <c:pt idx="1">
                <c:v>1.52</c:v>
              </c:pt>
              <c:pt idx="2">
                <c:v>3.88</c:v>
              </c:pt>
              <c:pt idx="3">
                <c:v>4.98</c:v>
              </c:pt>
              <c:pt idx="4">
                <c:v>4.58</c:v>
              </c:pt>
              <c:pt idx="5">
                <c:v>4.18</c:v>
              </c:pt>
              <c:pt idx="6">
                <c:v>4.5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0243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7C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C7C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4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C8B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Weight</c:v>
          </c:tx>
          <c:spPr>
            <a:solidFill xmlns:a="http://schemas.openxmlformats.org/drawingml/2006/main">
              <a:srgbClr val="00A6A6"/>
            </a:solidFill>
          </c:spPr>
          <c:dPt>
            <c:idx val="0"/>
            <c:spPr>
              <a:solidFill xmlns:a="http://schemas.openxmlformats.org/drawingml/2006/main">
                <a:srgbClr val="75C8FF"/>
              </a:solidFill>
            </c:spPr>
          </c:dPt>
          <c:dPt>
            <c:idx val="1"/>
            <c:spPr>
              <a:solidFill xmlns:a="http://schemas.openxmlformats.org/drawingml/2006/main">
                <a:srgbClr val="D6A33D"/>
              </a:solidFill>
            </c:spPr>
          </c:dPt>
          <c:dPt>
            <c:idx val="2"/>
            <c:spPr>
              <a:solidFill xmlns:a="http://schemas.openxmlformats.org/drawingml/2006/main">
                <a:srgbClr val="4CB782"/>
              </a:solidFill>
            </c:spPr>
          </c:dPt>
          <c:dPt>
            <c:idx val="3"/>
            <c:spPr>
              <a:solidFill xmlns:a="http://schemas.openxmlformats.org/drawingml/2006/main">
                <a:srgbClr val="FF6B5C"/>
              </a:solidFill>
            </c:spPr>
          </c:dPt>
          <c:dPt>
            <c:idx val="4"/>
            <c:spPr>
              <a:solidFill xmlns:a="http://schemas.openxmlformats.org/drawingml/2006/main">
                <a:srgbClr val="00A6A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FX stability</c:v>
              </c:pt>
              <c:pt idx="1">
                <c:v>Bond confidence</c:v>
              </c:pt>
              <c:pt idx="2">
                <c:v>Forecast accuracy</c:v>
              </c:pt>
              <c:pt idx="3">
                <c:v>Policy consistency</c:v>
              </c:pt>
              <c:pt idx="4">
                <c:v>Inflation anchoring</c:v>
              </c:pt>
            </c:strLit>
          </c:cat>
          <c:val>
            <c:numLit>
              <c:formatCode>General</c:formatCode>
              <c:ptCount val="5"/>
              <c:pt idx="0">
                <c:v>15</c:v>
              </c:pt>
              <c:pt idx="1">
                <c:v>15</c:v>
              </c:pt>
              <c:pt idx="2">
                <c:v>20</c:v>
              </c:pt>
              <c:pt idx="3">
                <c:v>20</c:v>
              </c:pt>
              <c:pt idx="4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CBCI score</c:v>
          </c:tx>
          <c:spPr>
            <a:solidFill xmlns:a="http://schemas.openxmlformats.org/drawingml/2006/main">
              <a:srgbClr val="AAB8C3"/>
            </a:solidFill>
          </c:spPr>
          <c:dPt>
            <c:idx val="0"/>
            <c:spPr>
              <a:solidFill xmlns:a="http://schemas.openxmlformats.org/drawingml/2006/main">
                <a:srgbClr val="FF6B5C"/>
              </a:solidFill>
            </c:spPr>
          </c:dPt>
          <c:dPt>
            <c:idx val="1"/>
            <c:spPr>
              <a:solidFill xmlns:a="http://schemas.openxmlformats.org/drawingml/2006/main">
                <a:srgbClr val="FF6B5C"/>
              </a:solidFill>
            </c:spPr>
          </c:dPt>
          <c:dPt>
            <c:idx val="2"/>
            <c:spPr>
              <a:solidFill xmlns:a="http://schemas.openxmlformats.org/drawingml/2006/main">
                <a:srgbClr val="FF6B5C"/>
              </a:solidFill>
            </c:spPr>
          </c:dPt>
          <c:dPt>
            <c:idx val="3"/>
            <c:spPr>
              <a:solidFill xmlns:a="http://schemas.openxmlformats.org/drawingml/2006/main">
                <a:srgbClr val="AAB8C3"/>
              </a:solidFill>
            </c:spPr>
          </c:dPt>
          <c:dPt>
            <c:idx val="4"/>
            <c:spPr>
              <a:solidFill xmlns:a="http://schemas.openxmlformats.org/drawingml/2006/main">
                <a:srgbClr val="AAB8C3"/>
              </a:solidFill>
            </c:spPr>
          </c:dPt>
          <c:dPt>
            <c:idx val="5"/>
            <c:spPr>
              <a:solidFill xmlns:a="http://schemas.openxmlformats.org/drawingml/2006/main">
                <a:srgbClr val="AAB8C3"/>
              </a:solidFill>
            </c:spPr>
          </c:dPt>
          <c:dPt>
            <c:idx val="6"/>
            <c:spPr>
              <a:solidFill xmlns:a="http://schemas.openxmlformats.org/drawingml/2006/main">
                <a:srgbClr val="AAB8C3"/>
              </a:solidFill>
            </c:spPr>
          </c:dPt>
          <c:dPt>
            <c:idx val="7"/>
            <c:spPr>
              <a:solidFill xmlns:a="http://schemas.openxmlformats.org/drawingml/2006/main">
                <a:srgbClr val="D6A33D"/>
              </a:solidFill>
            </c:spPr>
          </c:dPt>
          <c:dPt>
            <c:idx val="8"/>
            <c:spPr>
              <a:solidFill xmlns:a="http://schemas.openxmlformats.org/drawingml/2006/main">
                <a:srgbClr val="007B7B"/>
              </a:solidFill>
            </c:spPr>
          </c:dPt>
          <c:dPt>
            <c:idx val="9"/>
            <c:spPr>
              <a:solidFill xmlns:a="http://schemas.openxmlformats.org/drawingml/2006/main">
                <a:srgbClr val="00A6A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BCB</c:v>
              </c:pt>
              <c:pt idx="1">
                <c:v>RBI</c:v>
              </c:pt>
              <c:pt idx="2">
                <c:v>BOC</c:v>
              </c:pt>
              <c:pt idx="3">
                <c:v>RBA</c:v>
              </c:pt>
              <c:pt idx="4">
                <c:v>PBOC</c:v>
              </c:pt>
              <c:pt idx="5">
                <c:v>BOE</c:v>
              </c:pt>
              <c:pt idx="6">
                <c:v>SNB</c:v>
              </c:pt>
              <c:pt idx="7">
                <c:v>ECB</c:v>
              </c:pt>
              <c:pt idx="8">
                <c:v>FED</c:v>
              </c:pt>
              <c:pt idx="9">
                <c:v>BOJ</c:v>
              </c:pt>
            </c:strLit>
          </c:cat>
          <c:val>
            <c:numLit>
              <c:formatCode>General</c:formatCode>
              <c:ptCount val="10"/>
              <c:pt idx="0">
                <c:v>59.7</c:v>
              </c:pt>
              <c:pt idx="1">
                <c:v>60.6</c:v>
              </c:pt>
              <c:pt idx="2">
                <c:v>60.6</c:v>
              </c:pt>
              <c:pt idx="3">
                <c:v>66.2</c:v>
              </c:pt>
              <c:pt idx="4">
                <c:v>69.8</c:v>
              </c:pt>
              <c:pt idx="5">
                <c:v>71.8</c:v>
              </c:pt>
              <c:pt idx="6">
                <c:v>75.3</c:v>
              </c:pt>
              <c:pt idx="7">
                <c:v>81.8</c:v>
              </c:pt>
              <c:pt idx="8">
                <c:v>83.6</c:v>
              </c:pt>
              <c:pt idx="9">
                <c:v>83.9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4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7C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8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stacked"/>
        <c:varyColors val="0"/>
        <c:ser>
          <c:idx val="0"/>
          <c:order val="0"/>
          <c:tx>
            <c:v>Inflation</c:v>
          </c:tx>
          <c:spPr>
            <a:solidFill xmlns:a="http://schemas.openxmlformats.org/drawingml/2006/main">
              <a:srgbClr val="00A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ECB</c:v>
              </c:pt>
              <c:pt idx="1">
                <c:v>FED</c:v>
              </c:pt>
              <c:pt idx="2">
                <c:v>BOJ</c:v>
              </c:pt>
            </c:strLit>
          </c:cat>
          <c:val>
            <c:numLit>
              <c:formatCode>General</c:formatCode>
              <c:ptCount val="3"/>
              <c:pt idx="0">
                <c:v>26</c:v>
              </c:pt>
              <c:pt idx="1">
                <c:v>24.5</c:v>
              </c:pt>
              <c:pt idx="2">
                <c:v>29</c:v>
              </c:pt>
            </c:numLit>
          </c:val>
        </c:ser>
        <c:ser>
          <c:idx val="1"/>
          <c:order val="1"/>
          <c:tx>
            <c:v>Policy</c:v>
          </c:tx>
          <c:spPr>
            <a:solidFill xmlns:a="http://schemas.openxmlformats.org/drawingml/2006/main">
              <a:srgbClr val="FF6B5C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ECB</c:v>
              </c:pt>
              <c:pt idx="1">
                <c:v>FED</c:v>
              </c:pt>
              <c:pt idx="2">
                <c:v>BOJ</c:v>
              </c:pt>
            </c:strLit>
          </c:cat>
          <c:val>
            <c:numLit>
              <c:formatCode>General</c:formatCode>
              <c:ptCount val="3"/>
              <c:pt idx="0">
                <c:v>19.1</c:v>
              </c:pt>
              <c:pt idx="1">
                <c:v>18.6</c:v>
              </c:pt>
              <c:pt idx="2">
                <c:v>18.4</c:v>
              </c:pt>
            </c:numLit>
          </c:val>
        </c:ser>
        <c:ser>
          <c:idx val="2"/>
          <c:order val="2"/>
          <c:tx>
            <c:v>Forecast</c:v>
          </c:tx>
          <c:spPr>
            <a:solidFill xmlns:a="http://schemas.openxmlformats.org/drawingml/2006/main">
              <a:srgbClr val="4CB78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ECB</c:v>
              </c:pt>
              <c:pt idx="1">
                <c:v>FED</c:v>
              </c:pt>
              <c:pt idx="2">
                <c:v>BOJ</c:v>
              </c:pt>
            </c:strLit>
          </c:cat>
          <c:val>
            <c:numLit>
              <c:formatCode>General</c:formatCode>
              <c:ptCount val="3"/>
              <c:pt idx="0">
                <c:v>13.7</c:v>
              </c:pt>
              <c:pt idx="1">
                <c:v>16.4</c:v>
              </c:pt>
              <c:pt idx="2">
                <c:v>15.3</c:v>
              </c:pt>
            </c:numLit>
          </c:val>
        </c:ser>
        <c:ser>
          <c:idx val="3"/>
          <c:order val="3"/>
          <c:tx>
            <c:v>Bond</c:v>
          </c:tx>
          <c:spPr>
            <a:solidFill xmlns:a="http://schemas.openxmlformats.org/drawingml/2006/main">
              <a:srgbClr val="D6A33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ECB</c:v>
              </c:pt>
              <c:pt idx="1">
                <c:v>FED</c:v>
              </c:pt>
              <c:pt idx="2">
                <c:v>BOJ</c:v>
              </c:pt>
            </c:strLit>
          </c:cat>
          <c:val>
            <c:numLit>
              <c:formatCode>General</c:formatCode>
              <c:ptCount val="3"/>
              <c:pt idx="0">
                <c:v>9.7</c:v>
              </c:pt>
              <c:pt idx="1">
                <c:v>9.1</c:v>
              </c:pt>
              <c:pt idx="2">
                <c:v>12.3</c:v>
              </c:pt>
            </c:numLit>
          </c:val>
        </c:ser>
        <c:ser>
          <c:idx val="4"/>
          <c:order val="4"/>
          <c:tx>
            <c:v>FX</c:v>
          </c:tx>
          <c:spPr>
            <a:solidFill xmlns:a="http://schemas.openxmlformats.org/drawingml/2006/main">
              <a:srgbClr val="75C8F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ECB</c:v>
              </c:pt>
              <c:pt idx="1">
                <c:v>FED</c:v>
              </c:pt>
              <c:pt idx="2">
                <c:v>BOJ</c:v>
              </c:pt>
            </c:strLit>
          </c:cat>
          <c:val>
            <c:numLit>
              <c:formatCode>General</c:formatCode>
              <c:ptCount val="3"/>
              <c:pt idx="0">
                <c:v>13.3</c:v>
              </c:pt>
              <c:pt idx="1">
                <c:v>15</c:v>
              </c:pt>
              <c:pt idx="2">
                <c:v>8.9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45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2CF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FFFFFF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Policy consistency</c:v>
          </c:tx>
          <c:spPr>
            <a:solidFill xmlns:a="http://schemas.openxmlformats.org/drawingml/2006/main">
              <a:srgbClr val="00A6A6"/>
            </a:solidFill>
          </c:spPr>
          <c:dPt>
            <c:idx val="0"/>
            <c:spPr>
              <a:solidFill xmlns:a="http://schemas.openxmlformats.org/drawingml/2006/main">
                <a:srgbClr val="FF6B5C"/>
              </a:solidFill>
            </c:spPr>
          </c:dPt>
          <c:dPt>
            <c:idx val="1"/>
            <c:spPr>
              <a:solidFill xmlns:a="http://schemas.openxmlformats.org/drawingml/2006/main">
                <a:srgbClr val="FF6B5C"/>
              </a:solidFill>
            </c:spPr>
          </c:dPt>
          <c:dPt>
            <c:idx val="2"/>
            <c:spPr>
              <a:solidFill xmlns:a="http://schemas.openxmlformats.org/drawingml/2006/main">
                <a:srgbClr val="D6A33D"/>
              </a:solidFill>
            </c:spPr>
          </c:dPt>
          <c:dPt>
            <c:idx val="3"/>
            <c:spPr>
              <a:solidFill xmlns:a="http://schemas.openxmlformats.org/drawingml/2006/main">
                <a:srgbClr val="D6A33D"/>
              </a:solidFill>
            </c:spPr>
          </c:dPt>
          <c:dPt>
            <c:idx val="4"/>
            <c:spPr>
              <a:solidFill xmlns:a="http://schemas.openxmlformats.org/drawingml/2006/main">
                <a:srgbClr val="D6A33D"/>
              </a:solidFill>
            </c:spPr>
          </c:dPt>
          <c:dPt>
            <c:idx val="5"/>
            <c:spPr>
              <a:solidFill xmlns:a="http://schemas.openxmlformats.org/drawingml/2006/main">
                <a:srgbClr val="00A6A6"/>
              </a:solidFill>
            </c:spPr>
          </c:dPt>
          <c:dPt>
            <c:idx val="6"/>
            <c:spPr>
              <a:solidFill xmlns:a="http://schemas.openxmlformats.org/drawingml/2006/main">
                <a:srgbClr val="00A6A6"/>
              </a:solidFill>
            </c:spPr>
          </c:dPt>
          <c:dPt>
            <c:idx val="7"/>
            <c:spPr>
              <a:solidFill xmlns:a="http://schemas.openxmlformats.org/drawingml/2006/main">
                <a:srgbClr val="00A6A6"/>
              </a:solidFill>
            </c:spPr>
          </c:dPt>
          <c:dPt>
            <c:idx val="8"/>
            <c:spPr>
              <a:solidFill xmlns:a="http://schemas.openxmlformats.org/drawingml/2006/main">
                <a:srgbClr val="00A6A6"/>
              </a:solidFill>
            </c:spPr>
          </c:dPt>
          <c:dPt>
            <c:idx val="9"/>
            <c:spPr>
              <a:solidFill xmlns:a="http://schemas.openxmlformats.org/drawingml/2006/main">
                <a:srgbClr val="00A6A6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BOC</c:v>
              </c:pt>
              <c:pt idx="1">
                <c:v>SNB</c:v>
              </c:pt>
              <c:pt idx="2">
                <c:v>BOE</c:v>
              </c:pt>
              <c:pt idx="3">
                <c:v>RBI</c:v>
              </c:pt>
              <c:pt idx="4">
                <c:v>BCB</c:v>
              </c:pt>
              <c:pt idx="5">
                <c:v>RBA</c:v>
              </c:pt>
              <c:pt idx="6">
                <c:v>BOJ</c:v>
              </c:pt>
              <c:pt idx="7">
                <c:v>FED</c:v>
              </c:pt>
              <c:pt idx="8">
                <c:v>PBOC</c:v>
              </c:pt>
              <c:pt idx="9">
                <c:v>ECB</c:v>
              </c:pt>
            </c:strLit>
          </c:cat>
          <c:val>
            <c:numLit>
              <c:formatCode>General</c:formatCode>
              <c:ptCount val="10"/>
              <c:pt idx="0">
                <c:v>3.5</c:v>
              </c:pt>
              <c:pt idx="1">
                <c:v>31</c:v>
              </c:pt>
              <c:pt idx="2">
                <c:v>50</c:v>
              </c:pt>
              <c:pt idx="3">
                <c:v>50</c:v>
              </c:pt>
              <c:pt idx="4">
                <c:v>50</c:v>
              </c:pt>
              <c:pt idx="5">
                <c:v>91</c:v>
              </c:pt>
              <c:pt idx="6">
                <c:v>92</c:v>
              </c:pt>
              <c:pt idx="7">
                <c:v>93</c:v>
              </c:pt>
              <c:pt idx="8">
                <c:v>93.5</c:v>
              </c:pt>
              <c:pt idx="9">
                <c:v>95.5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024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FE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7C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438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stacked"/>
        <c:varyColors val="0"/>
        <c:ser>
          <c:idx val="0"/>
          <c:order val="0"/>
          <c:tx>
            <c:v>Other four pillars</c:v>
          </c:tx>
          <c:spPr>
            <a:solidFill xmlns:a="http://schemas.openxmlformats.org/drawingml/2006/main">
              <a:srgbClr val="75C8F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BOC</c:v>
              </c:pt>
              <c:pt idx="1">
                <c:v>SNB</c:v>
              </c:pt>
              <c:pt idx="2">
                <c:v>ECB</c:v>
              </c:pt>
            </c:strLit>
          </c:cat>
          <c:val>
            <c:numLit>
              <c:formatCode>General</c:formatCode>
              <c:ptCount val="3"/>
              <c:pt idx="0">
                <c:v>59.9</c:v>
              </c:pt>
              <c:pt idx="1">
                <c:v>69.1</c:v>
              </c:pt>
              <c:pt idx="2">
                <c:v>62.7</c:v>
              </c:pt>
            </c:numLit>
          </c:val>
        </c:ser>
        <c:ser>
          <c:idx val="1"/>
          <c:order val="1"/>
          <c:tx>
            <c:v>Policy consistency</c:v>
          </c:tx>
          <c:spPr>
            <a:solidFill xmlns:a="http://schemas.openxmlformats.org/drawingml/2006/main">
              <a:srgbClr val="FF6B5C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BOC</c:v>
              </c:pt>
              <c:pt idx="1">
                <c:v>SNB</c:v>
              </c:pt>
              <c:pt idx="2">
                <c:v>ECB</c:v>
              </c:pt>
            </c:strLit>
          </c:cat>
          <c:val>
            <c:numLit>
              <c:formatCode>General</c:formatCode>
              <c:ptCount val="3"/>
              <c:pt idx="0">
                <c:v>0.7</c:v>
              </c:pt>
              <c:pt idx="1">
                <c:v>6.2</c:v>
              </c:pt>
              <c:pt idx="2">
                <c:v>19.1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71B2D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45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2CF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FFFFFF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D26D73-B9D1-4F8F-84D1-A24F522B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FAE14-D4A3-4CF9-B725-1C8575AA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5C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5C8FF"/>
                </a:solidFill>
                <a:latin typeface="Aptos"/>
                <a:ea typeface="Aptos"/>
                <a:cs typeface="Aptos"/>
              </a:rPr>
              <a:t>CBCI / EXECUTIVE CAROUSEL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514C4-DDE9-4BA3-9E88-108B2A33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857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Credibility is not a soft asset.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9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>
                <a:solidFill>
                  <a:srgbClr val="FFFFFF"/>
                </a:solidFill>
                <a:latin typeface="Aptos"/>
                <a:ea typeface="Aptos"/>
                <a:cs typeface="Aptos"/>
              </a:rPr>
              <a:t>It is a </a:t>
            </a: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priced risk factor.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0E6C6-2337-4850-A898-C9980879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C6D6E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6D6E1"/>
                </a:solidFill>
                <a:latin typeface="Aptos"/>
                <a:ea typeface="Aptos"/>
                <a:cs typeface="Aptos"/>
              </a:rPr>
              <a:t>A data-driven view of how inflation control, policy consistency, forecasting, bonds, and FX combine into institutional trust.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FB1BB-D476-4D8F-9BC0-605A58D7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438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6A3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68AB2-E8E3-49DC-AE98-22DB186E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A3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33D"/>
                </a:solidFill>
                <a:latin typeface="Aptos"/>
                <a:ea typeface="Aptos"/>
                <a:cs typeface="Aptos"/>
              </a:rPr>
              <a:t>10 CENTRAL BANKS  •  5 PILLARS  •  1 COMPARABLE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A14BF-27BD-4927-8CC3-6087164E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8B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EA8BA"/>
                </a:solidFill>
                <a:latin typeface="Aptos"/>
                <a:ea typeface="Aptos"/>
                <a:cs typeface="Aptos"/>
              </a:rPr>
              <a:t>MBA-style analysis of the project’s authentic score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7983B-40E5-4BD5-9EA8-10BAAD56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2395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6222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D7EA3C-C652-4EEA-8015-BDFC640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CENTRAL BANK CREDIBILITY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AF0F4-797B-4B78-AA43-5899947C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2E51A-D9F4-4DA8-8408-5DB8B8FD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E908F-2722-4892-B4C7-A2C8A168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The bond market reveals the cost of lost confidence.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4ADD2-92CC-4A3A-9BB3-14BF96CB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US 10-year yields moved from a crisis-era trough to a structurally higher regime.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19E9D-8EB5-4F7E-8EF0-EE6860EF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6B5C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6B5C"/>
                </a:solidFill>
                <a:latin typeface="Aptos"/>
                <a:ea typeface="Aptos"/>
                <a:cs typeface="Aptos"/>
              </a:rPr>
              <a:t>446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6EE47-B422-4E45-9EF7-4AE10E8B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basis-point rise from the Aug 2020 trough to the Oct 2023 peak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BCC9E-5216-412D-880D-F1C081CA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7B7B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007B7B"/>
                </a:solidFill>
                <a:latin typeface="Aptos"/>
                <a:ea typeface="Aptos"/>
                <a:cs typeface="Aptos"/>
              </a:rPr>
              <a:t>4.50%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C3992-C42B-48B9-9B32-1C20B9A1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767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latest observation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2026-06-23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5334000"/>
          <a:ext xmlns:a="http://schemas.openxmlformats.org/drawingml/2006/main" cx="8953500" cy="581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985d23511b40c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FF85D-DAE7-4776-A317-DEB76982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6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D5D2A-CCD5-4BC3-A04C-6232913D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11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Source: FRED DGS10 file in project repository; observations through 23 Jun 2026.</a:t>
            </a:r>
          </a:p>
        </p:txBody>
      </p:sp>
    </p:spTree>
    <p:extLst>
      <p:ext uri="{BB962C8B-B14F-4D97-AF65-F5344CB8AC3E}">
        <p14:creationId xmlns:p14="http://schemas.microsoft.com/office/powerpoint/2010/main" val="1684341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C8B1C1-3CF4-4BDC-8F10-4DF3C27F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5C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C8FF"/>
                </a:solidFill>
                <a:latin typeface="Aptos"/>
                <a:ea typeface="Aptos"/>
                <a:cs typeface="Aptos"/>
              </a:rPr>
              <a:t>CENTRAL BANK CREDIBILITY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B70CE-1C7E-42DC-A1CF-2A4B7D4C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6FF4D-6528-4B44-BD10-5DD79442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51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88145-95B0-430E-BED1-8A9810DC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score. Five tests of institutional trust.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38D1B-7637-444B-8F18-43DF07BC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BDD0D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BDD0DE"/>
                </a:solidFill>
                <a:latin typeface="Aptos"/>
                <a:ea typeface="Aptos"/>
                <a:cs typeface="Aptos"/>
              </a:rPr>
              <a:t>The model deliberately balances mandate delivery, communication quality, forecasting, and market outcomes.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71500" y="3714750"/>
          <a:ext xmlns:a="http://schemas.openxmlformats.org/drawingml/2006/main" cx="5810250" cy="628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165de5207e41f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93550-E4F7-4174-929A-CBA0AF6A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910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B6071-CA15-4A5F-902C-336832F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435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D0DEE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0DEE7"/>
                </a:solidFill>
                <a:latin typeface="Aptos"/>
                <a:ea typeface="Aptos"/>
                <a:cs typeface="Aptos"/>
              </a:rPr>
              <a:t>Inflation anchoring receives the largest weight because price stability is the primary mandate.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8B804-5B3E-426D-8730-9F806301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2199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6A3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89006-2038-492D-A81C-A47FC5DE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620000"/>
            <a:ext cx="257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D0DEE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0DEE7"/>
                </a:solidFill>
                <a:latin typeface="Aptos"/>
                <a:ea typeface="Aptos"/>
                <a:cs typeface="Aptos"/>
              </a:rPr>
              <a:t>The design prevents a single market metric from becoming a proxy for credibility.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8573A-D308-4CE4-B776-E4916716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6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5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CDBB9-3D84-4E55-94CD-F503DDC6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11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4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4C4"/>
                </a:solidFill>
                <a:latin typeface="Aptos"/>
                <a:ea typeface="Aptos"/>
                <a:cs typeface="Aptos"/>
              </a:rPr>
              <a:t>Method: weighted sum of five 0–100 sub-indices; weights shown above.</a:t>
            </a:r>
          </a:p>
        </p:txBody>
      </p:sp>
    </p:spTree>
    <p:extLst>
      <p:ext uri="{BB962C8B-B14F-4D97-AF65-F5344CB8AC3E}">
        <p14:creationId xmlns:p14="http://schemas.microsoft.com/office/powerpoint/2010/main" val="1368987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8CB819-AF68-4255-A2BB-411D33DB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CENTRAL BANK CREDIBILITY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D4C45-AFFA-4A9D-B3DC-8DD4DF3A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A5A7A-4991-4843-903D-77FE858E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FBF1F-B2E3-447D-BB09-9F8BADF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Three institutions form the credibility frontier.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9948C-4101-45EA-B071-2180DEF2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The top-three average is 83.1 versus 60.3 for the bottom three—a 22.8-point gap.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46E14-77D1-41BA-B213-32DD0E96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FF6B5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6B5C"/>
                </a:solidFill>
                <a:latin typeface="Aptos"/>
                <a:ea typeface="Aptos"/>
                <a:cs typeface="Aptos"/>
              </a:rPr>
              <a:t>24.2 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A4A21-E8EE-4349-9F68-64D04983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leader-to-laggard spread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4095750"/>
          <a:ext xmlns:a="http://schemas.openxmlformats.org/drawingml/2006/main" cx="8858250" cy="709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83cb127636498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FCCFF-EEB3-426F-AB0B-27942425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6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E3465-9E21-4F0C-8B97-70588606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11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Source: authentic_cbci_scores.csv. Total score is the weighted sum of five pillar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1766887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12F12-D578-4A32-A9C5-4ECA166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5C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C8FF"/>
                </a:solidFill>
                <a:latin typeface="Aptos"/>
                <a:ea typeface="Aptos"/>
                <a:cs typeface="Aptos"/>
              </a:rPr>
              <a:t>CENTRAL BANK CREDIBILITY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CBB6F-5D73-4E35-89BC-29F68C19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7280A-985C-458F-B7ED-806581AD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51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F814F-976A-45DF-82CB-5259C433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leaders win through different combinations.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85E17-70A1-4F5B-AA60-0EA8F3EC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BDD0D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BDD0DE"/>
                </a:solidFill>
                <a:latin typeface="Aptos"/>
                <a:ea typeface="Aptos"/>
                <a:cs typeface="Aptos"/>
              </a:rPr>
              <a:t>Similar total scores can conceal very different institutional strengths—and very different failure modes.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52450" y="3695700"/>
          <a:ext xmlns:a="http://schemas.openxmlformats.org/drawingml/2006/main" cx="9191625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7bdde75739457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D2091-748F-448D-AE55-92D0D851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F8905-E032-4C3F-9452-343D7F49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298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BOJ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6D10A-85BA-42E5-803E-6864F81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98298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E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EE7"/>
                </a:solidFill>
                <a:latin typeface="Aptos"/>
                <a:ea typeface="Aptos"/>
                <a:cs typeface="Aptos"/>
              </a:rPr>
              <a:t>Best inflation anchoring; FX stability is the exposed flank.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A4649-54C0-4BF2-BDF8-E52194EC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5C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5C8FF"/>
                </a:solidFill>
                <a:latin typeface="Aptos"/>
                <a:ea typeface="Aptos"/>
                <a:cs typeface="Aptos"/>
              </a:rPr>
              <a:t>FED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BCA24-CE9E-47A8-BE2C-AFBC426D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05727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E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EE7"/>
                </a:solidFill>
                <a:latin typeface="Aptos"/>
                <a:ea typeface="Aptos"/>
                <a:cs typeface="Aptos"/>
              </a:rPr>
              <a:t>Perfect FX score; bond-market confidence is comparatively weaker.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22EEC-B837-4A92-8ABE-89E57A99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157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A3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6A33D"/>
                </a:solidFill>
                <a:latin typeface="Aptos"/>
                <a:ea typeface="Aptos"/>
                <a:cs typeface="Aptos"/>
              </a:rPr>
              <a:t>ECB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8507A-0F62-490E-9E32-59B3290E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3157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E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EE7"/>
                </a:solidFill>
                <a:latin typeface="Aptos"/>
                <a:ea typeface="Aptos"/>
                <a:cs typeface="Aptos"/>
              </a:rPr>
              <a:t>Best policy consistency; forecasting and bonds leave room to improve.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E4AFE-79F4-48E6-9FBA-EA018B82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6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51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69CA7-15FD-4D17-A6F6-808BF449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11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4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4C4"/>
                </a:solidFill>
                <a:latin typeface="Aptos"/>
                <a:ea typeface="Aptos"/>
                <a:cs typeface="Aptos"/>
              </a:rPr>
              <a:t>Values are weighted point contributions to the 100-point CBCI total.</a:t>
            </a:r>
          </a:p>
        </p:txBody>
      </p:sp>
    </p:spTree>
    <p:extLst>
      <p:ext uri="{BB962C8B-B14F-4D97-AF65-F5344CB8AC3E}">
        <p14:creationId xmlns:p14="http://schemas.microsoft.com/office/powerpoint/2010/main" val="258659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ABAFA6-2043-425F-AC2F-2C820BA6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CENTRAL BANK CREDIBILITY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2FF56-4850-4C12-AB0E-213A02E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C7F7E-3BBB-4A71-8A40-9B4B51BC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43066-7F3F-4186-97B3-C7A31544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Words-to-actions alignment is the largest separator.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4EE95-8C77-4FBC-BFDD-3DB5C9B9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Policy consistency spans almost the full 0–100 range—more dispersion than any other pillar.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19D7E-4351-4049-9865-AC6F4676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6B5C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6B5C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D4378-7C03-4E8D-986F-ABBAFE56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point spread in underlying policy-consistency scores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2369F-AE8B-4124-A6BA-76884ED9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24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438"/>
                </a:solidFill>
                <a:latin typeface="Aptos"/>
                <a:ea typeface="Aptos"/>
                <a:cs typeface="Aptos"/>
              </a:rPr>
              <a:t>This pillar alone separates institutions that merely communicate from those the market can reliably anticipate.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66750" y="4953000"/>
          <a:ext xmlns:a="http://schemas.openxmlformats.org/drawingml/2006/main" cx="8858250" cy="619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f837eb9475450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14569-0A78-43B5-9640-82FA6FF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6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EE132-358C-4D09-961F-137907DF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11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Underlying pillar score = weighted contribution ÷ pillar weight. Range: ECB 95.5 to BOC 3.5.</a:t>
            </a:r>
          </a:p>
        </p:txBody>
      </p:sp>
    </p:spTree>
    <p:extLst>
      <p:ext uri="{BB962C8B-B14F-4D97-AF65-F5344CB8AC3E}">
        <p14:creationId xmlns:p14="http://schemas.microsoft.com/office/powerpoint/2010/main" val="492513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E3936-B744-4B23-8081-DC9C9B2F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5C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C8FF"/>
                </a:solidFill>
                <a:latin typeface="Aptos"/>
                <a:ea typeface="Aptos"/>
                <a:cs typeface="Aptos"/>
              </a:rPr>
              <a:t>CENTRAL BANK CREDIBILITY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7334F-BEE7-4C26-94E8-C89F0465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4071E-E5EF-4E03-B1A1-010CE91A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51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95D42-AF5F-4AD3-AF54-51C6E228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single communication deficit can erase broad excellence.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AAB14-4CF8-42C8-9FCE-B9F85EA8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BDD0D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BDD0DE"/>
                </a:solidFill>
                <a:latin typeface="Aptos"/>
                <a:ea typeface="Aptos"/>
                <a:cs typeface="Aptos"/>
              </a:rPr>
              <a:t>Compare the four non-policy pillars with the final policy-consistency contribution.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52450" y="3714750"/>
          <a:ext xmlns:a="http://schemas.openxmlformats.org/drawingml/2006/main" cx="9191625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1744a4f38846a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426AB-280F-4782-AE15-77D74C8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0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4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2FDE8-7765-472F-9CA0-69F3FCB6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5C8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5C8FF"/>
                </a:solidFill>
                <a:latin typeface="Aptos"/>
                <a:ea typeface="Aptos"/>
                <a:cs typeface="Aptos"/>
              </a:rPr>
              <a:t>SNB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8ACCA-BDAF-4F16-899F-6EB4DB70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429750"/>
            <a:ext cx="766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D0DEE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0DEE7"/>
                </a:solidFill>
                <a:latin typeface="Aptos"/>
                <a:ea typeface="Aptos"/>
                <a:cs typeface="Aptos"/>
              </a:rPr>
              <a:t>Highest non-policy subtotal in the dataset (69.1), yet policy consistency contributes only 6.2 points.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C0773-4E6C-43D6-945E-8788DD8E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489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5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6B5C"/>
                </a:solidFill>
                <a:latin typeface="Aptos"/>
                <a:ea typeface="Aptos"/>
                <a:cs typeface="Aptos"/>
              </a:rPr>
              <a:t>BOC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C5EE8-08F7-45F3-88D5-D3EFF42F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0648950"/>
            <a:ext cx="7667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D0DEE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0DEE7"/>
                </a:solidFill>
                <a:latin typeface="Aptos"/>
                <a:ea typeface="Aptos"/>
                <a:cs typeface="Aptos"/>
              </a:rPr>
              <a:t>A solid 59.9-point base is overwhelmed by a 0.7-point policy contribution—the clearest bottleneck in the sample.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0E6D8-D9B2-4BEE-A739-E59B541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6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51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D0807-BE1F-49A7-A4C0-7EA8440A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11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4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4C4"/>
                </a:solidFill>
                <a:latin typeface="Aptos"/>
                <a:ea typeface="Aptos"/>
                <a:cs typeface="Aptos"/>
              </a:rPr>
              <a:t>Source: authentic_cbci_scores.csv. Stacked values sum to each institution’s total score.</a:t>
            </a:r>
          </a:p>
        </p:txBody>
      </p:sp>
    </p:spTree>
    <p:extLst>
      <p:ext uri="{BB962C8B-B14F-4D97-AF65-F5344CB8AC3E}">
        <p14:creationId xmlns:p14="http://schemas.microsoft.com/office/powerpoint/2010/main" val="2070995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327F9-B4EB-41DF-B64A-3C232280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CENTRAL BANK CREDIBILITY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D776D-E8F5-4054-8E6F-E349360B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A7544-C310-4255-A432-BCB723D3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11A81-D30F-4DC3-B60F-8B528DF0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Every institution has a different credibility fracture.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B0BFF-0F19-446D-A408-E5CE4474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The heatmap converts weighted contributions back to comparable 0–100 pillar scores.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52450" y="3429000"/>
          <a:ext xmlns:a="http://schemas.openxmlformats.org/drawingml/2006/main" cx="9182100" cy="762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543050"/>
                <a:gridCol w="1543050"/>
                <a:gridCol w="1543050"/>
                <a:gridCol w="1543050"/>
                <a:gridCol w="1543050"/>
              </a:tblGrid>
              <a:tr h="628650"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Bank</a:t>
                      </a:r>
                    </a:p>
                  </a:txBody>
                  <a:tcPr marL="91440" marR="91440" marT="45720" marB="45720">
                    <a:solidFill>
                      <a:srgbClr val="07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Inflation</a:t>
                      </a:r>
                    </a:p>
                  </a:txBody>
                  <a:tcPr marL="91440" marR="91440" marT="45720" marB="45720">
                    <a:solidFill>
                      <a:srgbClr val="07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07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Forecast</a:t>
                      </a:r>
                    </a:p>
                  </a:txBody>
                  <a:tcPr marL="91440" marR="91440" marT="45720" marB="45720">
                    <a:solidFill>
                      <a:srgbClr val="07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Bond</a:t>
                      </a:r>
                    </a:p>
                  </a:txBody>
                  <a:tcPr marL="91440" marR="91440" marT="45720" marB="45720">
                    <a:solidFill>
                      <a:srgbClr val="07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FX</a:t>
                      </a:r>
                    </a:p>
                  </a:txBody>
                  <a:tcPr marL="91440" marR="91440" marT="45720" marB="45720">
                    <a:solidFill>
                      <a:srgbClr val="071B2D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BOJ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97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77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59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FED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93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61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ECB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87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96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68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65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89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SNB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31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87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83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BOE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67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81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85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86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PBOC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53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93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73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RBA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65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91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57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66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BOC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85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67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53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87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RBI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69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91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57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BCB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58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67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F0E3D-79DE-4D94-A3CE-E6C81EA0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B7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B7B"/>
                </a:solidFill>
                <a:latin typeface="Aptos"/>
                <a:ea typeface="Aptos"/>
                <a:cs typeface="Aptos"/>
              </a:rPr>
              <a:t>≥85 strength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8BD46-35BC-4D8A-8910-6A7C587B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33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5B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5B14"/>
                </a:solidFill>
                <a:latin typeface="Aptos"/>
                <a:ea typeface="Aptos"/>
                <a:cs typeface="Aptos"/>
              </a:rPr>
              <a:t>70–84 resilient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BC0B1-2279-4BDB-AEFA-BD1E5479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334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3C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A3C32"/>
                </a:solidFill>
                <a:latin typeface="Aptos"/>
                <a:ea typeface="Aptos"/>
                <a:cs typeface="Aptos"/>
              </a:rPr>
              <a:t>&lt;70 vulnerability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EF27B-C16F-4182-AB22-3DA95A47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6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85D58-224B-4222-9904-BC0DB3F4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11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Scores rounded to nearest whole number. Color bands are analytical thresholds, not model categories.</a:t>
            </a:r>
          </a:p>
        </p:txBody>
      </p:sp>
    </p:spTree>
    <p:extLst>
      <p:ext uri="{BB962C8B-B14F-4D97-AF65-F5344CB8AC3E}">
        <p14:creationId xmlns:p14="http://schemas.microsoft.com/office/powerpoint/2010/main" val="3690352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6B3ED1-DDB6-4E7F-939A-3BDA6C98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5C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5C8FF"/>
                </a:solidFill>
                <a:latin typeface="Aptos"/>
                <a:ea typeface="Aptos"/>
                <a:cs typeface="Aptos"/>
              </a:rPr>
              <a:t>CENTRAL BANK CREDIBILITY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7452D-4C79-41F8-BCBC-A32A53B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5DA04-D61F-45C4-94F5-ABAD0BA2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51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90536-F0E4-4B76-8A5E-09044AE5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Turn the index into a repeatable decision discipline.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9339D-4B3E-4A3F-92A4-13E8C1F3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BDD0D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BDD0DE"/>
                </a:solidFill>
                <a:latin typeface="Aptos"/>
                <a:ea typeface="Aptos"/>
                <a:cs typeface="Aptos"/>
              </a:rPr>
              <a:t>The score is most useful when it changes the questions asked before taking duration, FX, or volatility risk.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3714750"/>
          <a:ext xmlns:a="http://schemas.openxmlformats.org/drawingml/2006/main" cx="91440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143250"/>
                <a:gridCol w="3905250"/>
              </a:tblGrid>
              <a:tr h="685800"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71B2D"/>
                          </a:solidFill>
                          <a:latin typeface="Aptos"/>
                          <a:ea typeface="Aptos"/>
                          <a:cs typeface="Aptos"/>
                        </a:rPr>
                        <a:t>Signal</a:t>
                      </a:r>
                    </a:p>
                  </a:txBody>
                  <a:tcPr marL="91440" marR="91440" marT="45720" marB="45720">
                    <a:solidFill>
                      <a:srgbClr val="00A6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71B2D"/>
                          </a:solidFill>
                          <a:latin typeface="Aptos"/>
                          <a:ea typeface="Aptos"/>
                          <a:cs typeface="Aptos"/>
                        </a:rPr>
                        <a:t>What it implies</a:t>
                      </a:r>
                    </a:p>
                  </a:txBody>
                  <a:tcPr marL="91440" marR="91440" marT="45720" marB="45720">
                    <a:solidFill>
                      <a:srgbClr val="00A6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500" b="1">
                          <a:solidFill>
                            <a:srgbClr val="071B2D"/>
                          </a:solidFill>
                          <a:latin typeface="Aptos"/>
                          <a:ea typeface="Aptos"/>
                          <a:cs typeface="Aptos"/>
                        </a:rPr>
                        <a:t>Portfolio question</a:t>
                      </a:r>
                    </a:p>
                  </a:txBody>
                  <a:tcPr marL="91440" marR="91440" marT="45720" marB="45720">
                    <a:solidFill>
                      <a:srgbClr val="00A6A6"/>
                    </a:solidFill>
                  </a:tcPr>
                </a:tc>
              </a:tr>
              <a:tr h="17335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&gt;80 total</a:t>
                      </a:r>
                    </a:p>
                    <a:p>
                      <a:pPr algn="ctr"/>
                      <a:r>
                        <a:rPr sz="1650" b="1">
                          <a:solidFill>
                            <a:srgbClr val="007B7B"/>
                          </a:solidFill>
                          <a:latin typeface="Aptos"/>
                          <a:ea typeface="Aptos"/>
                          <a:cs typeface="Aptos"/>
                        </a:rPr>
                        <a:t>+ policy &gt;80</a:t>
                      </a:r>
                    </a:p>
                  </a:txBody>
                  <a:tcPr marL="91440" marR="91440" marT="45720" marB="45720">
                    <a:solidFill>
                      <a:srgbClr val="DD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Guidance is comparatively dependable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Can duration be held with less event-risk hedging?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</a:tr>
              <a:tr h="17335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65–80 total</a:t>
                      </a:r>
                    </a:p>
                    <a:p>
                      <a:pPr algn="ctr"/>
                      <a:r>
                        <a:rPr sz="1650" b="1">
                          <a:solidFill>
                            <a:srgbClr val="7A5B14"/>
                          </a:solidFill>
                          <a:latin typeface="Aptos"/>
                          <a:ea typeface="Aptos"/>
                          <a:cs typeface="Aptos"/>
                        </a:rPr>
                        <a:t>or one weak pillar</a:t>
                      </a:r>
                    </a:p>
                  </a:txBody>
                  <a:tcPr marL="91440" marR="91440" marT="45720" marB="45720">
                    <a:solidFill>
                      <a:srgbClr val="F7EBC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Credibility is functional but fragile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Which single pillar could trigger repricing?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</a:tr>
              <a:tr h="1733550">
                <a:tc>
                  <a:txBody>
                    <a:bodyPr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&lt;65 total</a:t>
                      </a:r>
                    </a:p>
                    <a:p>
                      <a:pPr algn="ctr"/>
                      <a:r>
                        <a:rPr sz="1650" b="1">
                          <a:solidFill>
                            <a:srgbClr val="9A3C32"/>
                          </a:solidFill>
                          <a:latin typeface="Aptos"/>
                          <a:ea typeface="Aptos"/>
                          <a:cs typeface="Aptos"/>
                        </a:rPr>
                        <a:t>or policy &lt;40</a:t>
                      </a:r>
                    </a:p>
                  </a:txBody>
                  <a:tcPr marL="91440" marR="91440" marT="45720" marB="45720">
                    <a:solidFill>
                      <a:srgbClr val="FC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Policy surprise risk is elevated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575" b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Should duration shorten or FX/volatility protection rise?</a:t>
                      </a:r>
                    </a:p>
                  </a:txBody>
                  <a:tcPr marL="91440" marR="91440" marT="45720" marB="45720">
                    <a:solidFill>
                      <a:srgbClr val="0D294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32145-8D62-4587-9246-01DB63E3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0"/>
            <a:ext cx="904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lesson: </a:t>
            </a:r>
            <a:r>
              <a:rPr sz="1875">
                <a:solidFill>
                  <a:srgbClr val="FFFFFF"/>
                </a:solidFill>
                <a:latin typeface="Aptos"/>
                <a:ea typeface="Aptos"/>
                <a:cs typeface="Aptos"/>
              </a:rPr>
              <a:t>credibility should be monitored as a leading operating indicator—not explained after volatility arrives.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984B0-5761-478E-82F0-4231EE5D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6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5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332F2-F565-482D-874A-D2A22CB9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11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EB4C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EB4C4"/>
                </a:solidFill>
                <a:latin typeface="Aptos"/>
                <a:ea typeface="Aptos"/>
                <a:cs typeface="Aptos"/>
              </a:rPr>
              <a:t>Illustrative research framework only; 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313460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22B53-2CBC-403A-A572-9ABD3AA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70588-8313-4CA1-8611-022D7738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B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B7B"/>
                </a:solidFill>
                <a:latin typeface="Aptos"/>
                <a:ea typeface="Aptos"/>
                <a:cs typeface="Aptos"/>
              </a:rPr>
              <a:t>THE EXECUTIVE 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63391-1FFB-4BB9-94B2-F7FBE97E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Credibility is a system property—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and the weakest link gets priced.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716F5-CDA0-46B8-823B-1795ADFA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CD7FC-287D-449B-B690-70F59C32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7B7B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007B7B"/>
                </a:solidFill>
                <a:latin typeface="Aptos"/>
                <a:ea typeface="Aptos"/>
                <a:cs typeface="Aptos"/>
              </a:rPr>
              <a:t>24.2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3B85E-9B4A-4470-B8D5-ACBD2098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point spread between the leader and laggard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B69BF-85C0-4B7A-9831-A5F5DEB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530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6B5C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6B5C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B387C-FCB5-406E-B5B9-53CA8BC0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531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point spread in policy consistency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E7007-277D-4715-9E04-8514CA17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530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D6A33D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D6A33D"/>
                </a:solidFill>
                <a:latin typeface="Aptos"/>
                <a:ea typeface="Aptos"/>
                <a:cs typeface="Aptos"/>
              </a:rPr>
              <a:t>446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49971-F22D-4EF9-B6F7-C3C6CCC0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531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bp rise in the US 10Y from trough to peak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201A6-B73C-429F-838D-CE050F1F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167D3-8F55-4491-AEB1-3D71D786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05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1A61F-42BC-4D51-9354-A0C605E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9248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Use multiple pillars; no single outcome is credibility.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F0972-870F-4A03-9544-2ABF1B5E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58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5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6B5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3DDBC-BCFF-4318-A3CC-EE7B33C4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8773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Treat communication consistency as a measurable risk factor.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BB73A-C92B-44E0-80D3-E517FB6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A33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6A3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2FD0D-E681-42A1-9B24-4F568CE4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82980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Focus on the weakest pillar—it often explains the next repricing.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E2359-A2C8-4AF9-9663-9B875AF0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B7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B7B"/>
                </a:solidFill>
                <a:latin typeface="Aptos"/>
                <a:ea typeface="Aptos"/>
                <a:cs typeface="Aptos"/>
              </a:rPr>
              <a:t>If credibility moves markets, why leave it qualitative?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7861F-ACAC-4726-99EC-F90AF5B8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3538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F9C4B-2668-4137-8B2B-81763BC4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682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8C433-4B88-4A85-83C8-420A419F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11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C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C7C8B"/>
                </a:solidFill>
                <a:latin typeface="Aptos"/>
                <a:ea typeface="Aptos"/>
                <a:cs typeface="Aptos"/>
              </a:rPr>
              <a:t>Sources: project CBCI score snapshot and FRED DGS10 data through 23 Jun 2026.</a:t>
            </a:r>
          </a:p>
        </p:txBody>
      </p:sp>
    </p:spTree>
    <p:extLst>
      <p:ext uri="{BB962C8B-B14F-4D97-AF65-F5344CB8AC3E}">
        <p14:creationId xmlns:p14="http://schemas.microsoft.com/office/powerpoint/2010/main" val="1250313627"/>
      </p:ext>
    </p:extLst>
  </p:cSld>
</p:sld>
</file>

<file path=ppt/theme/theme1.xml><?xml version="1.0" encoding="utf-8"?>
<a:theme xmlns:a="http://schemas.openxmlformats.org/drawingml/2006/main" name="ChatGPT">
  <a:themeElements>
    <a:clrScheme name="CBCI Executive">
      <a:dk1>
        <a:srgbClr val="071B2D"/>
      </a:dk1>
      <a:lt1>
        <a:srgbClr val="FFFFFF"/>
      </a:lt1>
      <a:dk2>
        <a:srgbClr val="0D2941"/>
      </a:dk2>
      <a:lt2>
        <a:srgbClr val="F6F1E7"/>
      </a:lt2>
      <a:accent1>
        <a:srgbClr val="00A6A6"/>
      </a:accent1>
      <a:accent2>
        <a:srgbClr val="FF6B5C"/>
      </a:accent2>
      <a:accent3>
        <a:srgbClr val="D6A33D"/>
      </a:accent3>
      <a:accent4>
        <a:srgbClr val="75C8FF"/>
      </a:accent4>
      <a:accent5>
        <a:srgbClr val="4CB782"/>
      </a:accent5>
      <a:accent6>
        <a:srgbClr val="007B7B"/>
      </a:accent6>
      <a:hlink>
        <a:srgbClr val="00A6A6"/>
      </a:hlink>
      <a:folHlink>
        <a:srgbClr val="007B7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BCI Executiv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2026-06-25T22:54:28.0440000Z</dcterms:created>
  <dcterms:modified xsi:type="dcterms:W3CDTF">2026-06-25T22:54:28.0440000Z</dcterms:modified>
</coreProperties>
</file>