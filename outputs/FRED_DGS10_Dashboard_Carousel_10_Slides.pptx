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19f752c1b24549" /><Relationship Type="http://schemas.openxmlformats.org/officeDocument/2006/relationships/extended-properties" Target="/docProps/app.xml" Id="R7b5042e1ad2944dd" /><Relationship Type="http://schemas.openxmlformats.org/officeDocument/2006/relationships/officeDocument" Target="/ppt/presentation.xml" Id="R7a775062916445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7be65d1e45432e"/>
  </p:sldMasterIdLst>
  <p:notesMasterIdLst>
    <p:notesMasterId xmlns:r="http://schemas.openxmlformats.org/officeDocument/2006/relationships" r:id="Rde957b91026d455a"/>
  </p:notesMasterIdLst>
  <p:sldIdLst>
    <p:sldId xmlns:r="http://schemas.openxmlformats.org/officeDocument/2006/relationships" id="256" r:id="R7442f00ee7c24738"/>
    <p:sldId xmlns:r="http://schemas.openxmlformats.org/officeDocument/2006/relationships" id="257" r:id="R1ed540834df440a9"/>
    <p:sldId xmlns:r="http://schemas.openxmlformats.org/officeDocument/2006/relationships" id="258" r:id="R1e3e80b3cebb4dee"/>
    <p:sldId xmlns:r="http://schemas.openxmlformats.org/officeDocument/2006/relationships" id="259" r:id="Rc85bd1160a9d4079"/>
    <p:sldId xmlns:r="http://schemas.openxmlformats.org/officeDocument/2006/relationships" id="260" r:id="R779b95790bb14593"/>
    <p:sldId xmlns:r="http://schemas.openxmlformats.org/officeDocument/2006/relationships" id="261" r:id="R3255147aa2d0459b"/>
    <p:sldId xmlns:r="http://schemas.openxmlformats.org/officeDocument/2006/relationships" id="262" r:id="Rd0be1426f4a04421"/>
    <p:sldId xmlns:r="http://schemas.openxmlformats.org/officeDocument/2006/relationships" id="263" r:id="R79872c9362af4d14"/>
    <p:sldId xmlns:r="http://schemas.openxmlformats.org/officeDocument/2006/relationships" id="264" r:id="Rc9604b1b77404408"/>
    <p:sldId xmlns:r="http://schemas.openxmlformats.org/officeDocument/2006/relationships" id="265" r:id="Rb80947c13fa649b8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496857911942fc" /><Relationship Type="http://schemas.openxmlformats.org/officeDocument/2006/relationships/slideMaster" Target="/ppt/slideMasters/slideMaster1.xml" Id="R747be65d1e45432e" /><Relationship Type="http://schemas.openxmlformats.org/officeDocument/2006/relationships/notesMaster" Target="/ppt/notesMasters/notesMaster1.xml" Id="Rde957b91026d455a" /><Relationship Type="http://schemas.openxmlformats.org/officeDocument/2006/relationships/presProps" Target="/ppt/presProps.xml" Id="R9d8524eb24904a3e" /><Relationship Type="http://schemas.openxmlformats.org/officeDocument/2006/relationships/tableStyles" Target="/ppt/tableStyles.xml" Id="R9106a6a41d3240c9" /><Relationship Type="http://schemas.openxmlformats.org/officeDocument/2006/relationships/slide" Target="/ppt/slides/slide1.xml" Id="R7442f00ee7c24738" /><Relationship Type="http://schemas.openxmlformats.org/officeDocument/2006/relationships/slide" Target="/ppt/slides/slide2.xml" Id="R1ed540834df440a9" /><Relationship Type="http://schemas.openxmlformats.org/officeDocument/2006/relationships/slide" Target="/ppt/slides/slide3.xml" Id="R1e3e80b3cebb4dee" /><Relationship Type="http://schemas.openxmlformats.org/officeDocument/2006/relationships/slide" Target="/ppt/slides/slide4.xml" Id="Rc85bd1160a9d4079" /><Relationship Type="http://schemas.openxmlformats.org/officeDocument/2006/relationships/slide" Target="/ppt/slides/slide5.xml" Id="R779b95790bb14593" /><Relationship Type="http://schemas.openxmlformats.org/officeDocument/2006/relationships/slide" Target="/ppt/slides/slide6.xml" Id="R3255147aa2d0459b" /><Relationship Type="http://schemas.openxmlformats.org/officeDocument/2006/relationships/slide" Target="/ppt/slides/slide7.xml" Id="Rd0be1426f4a04421" /><Relationship Type="http://schemas.openxmlformats.org/officeDocument/2006/relationships/slide" Target="/ppt/slides/slide8.xml" Id="R79872c9362af4d14" /><Relationship Type="http://schemas.openxmlformats.org/officeDocument/2006/relationships/slide" Target="/ppt/slides/slide9.xml" Id="Rc9604b1b77404408" /><Relationship Type="http://schemas.openxmlformats.org/officeDocument/2006/relationships/slide" Target="/ppt/slides/slide10.xml" Id="Rb80947c13fa6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2d0fe58cc447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RED Dashboard">
      <a:dk1>
        <a:srgbClr val="071A2B"/>
      </a:dk1>
      <a:lt1>
        <a:srgbClr val="F8FBFD"/>
      </a:lt1>
      <a:dk2>
        <a:srgbClr val="0D2940"/>
      </a:dk2>
      <a:lt2>
        <a:srgbClr val="ECF1F3"/>
      </a:lt2>
      <a:accent1>
        <a:srgbClr val="2ED3C6"/>
      </a:accent1>
      <a:accent2>
        <a:srgbClr val="FF6B5F"/>
      </a:accent2>
      <a:accent3>
        <a:srgbClr val="E7B34A"/>
      </a:accent3>
      <a:accent4>
        <a:srgbClr val="69BDF3"/>
      </a:accent4>
      <a:accent5>
        <a:srgbClr val="62D28B"/>
      </a:accent5>
      <a:accent6>
        <a:srgbClr val="0FA6A0"/>
      </a:accent6>
      <a:hlink>
        <a:srgbClr val="2ED3C6"/>
      </a:hlink>
      <a:folHlink>
        <a:srgbClr val="69BDF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RED Dashbo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25acb71c8473c" /><Relationship Type="http://schemas.openxmlformats.org/officeDocument/2006/relationships/notesMaster" Target="/ppt/notesMasters/notesMaster1.xml" Id="Rcea14038705c40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65902b14c943f4" /><Relationship Type="http://schemas.openxmlformats.org/officeDocument/2006/relationships/notesMaster" Target="/ppt/notesMasters/notesMaster1.xml" Id="R7096cbcb18ef4a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dcbd3ab3fb47a7" /><Relationship Type="http://schemas.openxmlformats.org/officeDocument/2006/relationships/notesMaster" Target="/ppt/notesMasters/notesMaster1.xml" Id="R89aea001e4be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148f2a45134c7f" /><Relationship Type="http://schemas.openxmlformats.org/officeDocument/2006/relationships/notesMaster" Target="/ppt/notesMasters/notesMaster1.xml" Id="R5dffb858cb2c44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e708389ea440d" /><Relationship Type="http://schemas.openxmlformats.org/officeDocument/2006/relationships/notesMaster" Target="/ppt/notesMasters/notesMaster1.xml" Id="R2876c2b9416548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3b6d8d7f3b4ee1" /><Relationship Type="http://schemas.openxmlformats.org/officeDocument/2006/relationships/notesMaster" Target="/ppt/notesMasters/notesMaster1.xml" Id="Red9af3bf295248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909c3eab804d38" /><Relationship Type="http://schemas.openxmlformats.org/officeDocument/2006/relationships/notesMaster" Target="/ppt/notesMasters/notesMaster1.xml" Id="R2bc8860ad48d45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b58bec70c84632" /><Relationship Type="http://schemas.openxmlformats.org/officeDocument/2006/relationships/notesMaster" Target="/ppt/notesMasters/notesMaster1.xml" Id="Re63879c63b2847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71be2e53634118" /><Relationship Type="http://schemas.openxmlformats.org/officeDocument/2006/relationships/notesMaster" Target="/ppt/notesMasters/notesMaster1.xml" Id="R53dc634feeda41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f646f648c44583" /><Relationship Type="http://schemas.openxmlformats.org/officeDocument/2006/relationships/notesMaster" Target="/ppt/notesMasters/notesMaster1.xml" Id="Rde36cf26a435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9b4f4fd724a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73b40952974d8c" /><Relationship Type="http://schemas.openxmlformats.org/officeDocument/2006/relationships/slideLayout" Target="/ppt/slideLayouts/slideLayout1.xml" Id="Rce31ffd15ff849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31ffd15ff849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RED Dashboard">
      <a:dk1>
        <a:srgbClr val="071A2B"/>
      </a:dk1>
      <a:lt1>
        <a:srgbClr val="F8FBFD"/>
      </a:lt1>
      <a:dk2>
        <a:srgbClr val="0D2940"/>
      </a:dk2>
      <a:lt2>
        <a:srgbClr val="ECF1F3"/>
      </a:lt2>
      <a:accent1>
        <a:srgbClr val="2ED3C6"/>
      </a:accent1>
      <a:accent2>
        <a:srgbClr val="FF6B5F"/>
      </a:accent2>
      <a:accent3>
        <a:srgbClr val="E7B34A"/>
      </a:accent3>
      <a:accent4>
        <a:srgbClr val="69BDF3"/>
      </a:accent4>
      <a:accent5>
        <a:srgbClr val="62D28B"/>
      </a:accent5>
      <a:accent6>
        <a:srgbClr val="0FA6A0"/>
      </a:accent6>
      <a:hlink>
        <a:srgbClr val="2ED3C6"/>
      </a:hlink>
      <a:folHlink>
        <a:srgbClr val="69BDF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RED Dashbo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a9840b6ed4676" /><Relationship Type="http://schemas.openxmlformats.org/officeDocument/2006/relationships/notesSlide" Target="/ppt/notesSlides/notesSlide1.xml" Id="Rc30592a4397c45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65a924cf64c53" /><Relationship Type="http://schemas.openxmlformats.org/officeDocument/2006/relationships/chart" Target="/ppt/slides/charts/chart1.xml" Id="R5ebb12f85bd44908" /><Relationship Type="http://schemas.openxmlformats.org/officeDocument/2006/relationships/notesSlide" Target="/ppt/notesSlides/notesSlide2.xml" Id="R8956c194216740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f2c27816a43ef" /><Relationship Type="http://schemas.openxmlformats.org/officeDocument/2006/relationships/chart" Target="/ppt/slides/charts/chart2.xml" Id="Rf2d4e722cc674f51" /><Relationship Type="http://schemas.openxmlformats.org/officeDocument/2006/relationships/notesSlide" Target="/ppt/notesSlides/notesSlide3.xml" Id="R8e2b1441453e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174da628e4c78" /><Relationship Type="http://schemas.openxmlformats.org/officeDocument/2006/relationships/chart" Target="/ppt/slides/charts/chart3.xml" Id="R44b810941b604b15" /><Relationship Type="http://schemas.openxmlformats.org/officeDocument/2006/relationships/chart" Target="/ppt/slides/charts/chart4.xml" Id="R1c74561b050e401d" /><Relationship Type="http://schemas.openxmlformats.org/officeDocument/2006/relationships/notesSlide" Target="/ppt/notesSlides/notesSlide4.xml" Id="R8dc8f9241c3a40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a5ae450b445aa" /><Relationship Type="http://schemas.openxmlformats.org/officeDocument/2006/relationships/chart" Target="/ppt/slides/charts/chart5.xml" Id="R8d3dd818b6144621" /><Relationship Type="http://schemas.openxmlformats.org/officeDocument/2006/relationships/notesSlide" Target="/ppt/notesSlides/notesSlide5.xml" Id="Ra0fd458dcf8e49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16d7d6b4048dd" /><Relationship Type="http://schemas.openxmlformats.org/officeDocument/2006/relationships/chart" Target="/ppt/slides/charts/chart6.xml" Id="Re44e808780fe4dd0" /><Relationship Type="http://schemas.openxmlformats.org/officeDocument/2006/relationships/notesSlide" Target="/ppt/notesSlides/notesSlide6.xml" Id="R54b38625c80848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dc18237ef4d97" /><Relationship Type="http://schemas.openxmlformats.org/officeDocument/2006/relationships/chart" Target="/ppt/slides/charts/chart7.xml" Id="R520f9d726ae341bb" /><Relationship Type="http://schemas.openxmlformats.org/officeDocument/2006/relationships/notesSlide" Target="/ppt/notesSlides/notesSlide7.xml" Id="Rec4f511d7d434f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1b60135b44e46" /><Relationship Type="http://schemas.openxmlformats.org/officeDocument/2006/relationships/chart" Target="/ppt/slides/charts/chart8.xml" Id="R40a74f1ab0324033" /><Relationship Type="http://schemas.openxmlformats.org/officeDocument/2006/relationships/notesSlide" Target="/ppt/notesSlides/notesSlide8.xml" Id="R38ed1593ca854d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bf115f1a049f6" /><Relationship Type="http://schemas.openxmlformats.org/officeDocument/2006/relationships/notesSlide" Target="/ppt/notesSlides/notesSlide9.xml" Id="R11e0525d193a43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15dfc0ab14eb0" /><Relationship Type="http://schemas.openxmlformats.org/officeDocument/2006/relationships/notesSlide" Target="/ppt/notesSlides/notesSlide10.xml" Id="R87a3606d6236434d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doughnutChart>
        <c:ser>
          <c:idx val="0"/>
          <c:order val="0"/>
          <c:tx>
            <c:v>Rows</c:v>
          </c:tx>
          <c:spPr>
            <a:solidFill xmlns:a="http://schemas.openxmlformats.org/drawingml/2006/main">
              <a:srgbClr val="2ED3C6"/>
            </a:solidFill>
          </c:spPr>
          <c:dPt>
            <c:idx val="0"/>
            <c:spPr>
              <a:solidFill xmlns:a="http://schemas.openxmlformats.org/drawingml/2006/main">
                <a:srgbClr val="2ED3C6"/>
              </a:solidFill>
            </c:spPr>
          </c:dPt>
          <c:dPt>
            <c:idx val="1"/>
            <c:spPr>
              <a:solidFill xmlns:a="http://schemas.openxmlformats.org/drawingml/2006/main">
                <a:srgbClr val="E7B34A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Valid</c:v>
              </c:pt>
              <c:pt idx="1">
                <c:v>Null</c:v>
              </c:pt>
            </c:strLit>
          </c:cat>
          <c:val>
            <c:numLit>
              <c:formatCode>General</c:formatCode>
              <c:ptCount val="2"/>
              <c:pt idx="0">
                <c:v>4120</c:v>
              </c:pt>
              <c:pt idx="1">
                <c:v>178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8FBFD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70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D9E7F0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Annual average yield</c:v>
          </c:tx>
          <c:spPr>
            <a:ln xmlns:a="http://schemas.openxmlformats.org/drawingml/2006/main" w="38100">
              <a:solidFill>
                <a:srgbClr val="2ED3C6"/>
              </a:solidFill>
              <a:prstDash val="solid"/>
            </a:ln>
          </c:spPr>
          <c:marker>
            <c:symbol val="circle"/>
            <c:size val="8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7"/>
              <c:pt idx="0">
                <c:v>2010</c:v>
              </c:pt>
              <c:pt idx="1">
                <c:v>2011</c:v>
              </c:pt>
              <c:pt idx="2">
                <c:v>2012</c:v>
              </c:pt>
              <c:pt idx="3">
                <c:v>2013</c:v>
              </c:pt>
              <c:pt idx="4">
                <c:v>2014</c:v>
              </c:pt>
              <c:pt idx="5">
                <c:v>2015</c:v>
              </c:pt>
              <c:pt idx="6">
                <c:v>2016</c:v>
              </c:pt>
              <c:pt idx="7">
                <c:v>2017</c:v>
              </c:pt>
              <c:pt idx="8">
                <c:v>2018</c:v>
              </c:pt>
              <c:pt idx="9">
                <c:v>2019</c:v>
              </c:pt>
              <c:pt idx="10">
                <c:v>2020</c:v>
              </c:pt>
              <c:pt idx="11">
                <c:v>2021</c:v>
              </c:pt>
              <c:pt idx="12">
                <c:v>2022</c:v>
              </c:pt>
              <c:pt idx="13">
                <c:v>2023</c:v>
              </c:pt>
              <c:pt idx="14">
                <c:v>2024</c:v>
              </c:pt>
              <c:pt idx="15">
                <c:v>2025</c:v>
              </c:pt>
              <c:pt idx="16">
                <c:v>2026</c:v>
              </c:pt>
            </c:numLit>
          </c:cat>
          <c:val>
            <c:numLit>
              <c:formatCode>0.0</c:formatCode>
              <c:ptCount val="17"/>
              <c:pt idx="0">
                <c:v>3.215</c:v>
              </c:pt>
              <c:pt idx="1">
                <c:v>2.782</c:v>
              </c:pt>
              <c:pt idx="2">
                <c:v>1.803</c:v>
              </c:pt>
              <c:pt idx="3">
                <c:v>2.35</c:v>
              </c:pt>
              <c:pt idx="4">
                <c:v>2.54</c:v>
              </c:pt>
              <c:pt idx="5">
                <c:v>2.138</c:v>
              </c:pt>
              <c:pt idx="6">
                <c:v>1.837</c:v>
              </c:pt>
              <c:pt idx="7">
                <c:v>2.329</c:v>
              </c:pt>
              <c:pt idx="8">
                <c:v>2.911</c:v>
              </c:pt>
              <c:pt idx="9">
                <c:v>2.141</c:v>
              </c:pt>
              <c:pt idx="10">
                <c:v>0.889</c:v>
              </c:pt>
              <c:pt idx="11">
                <c:v>1.447</c:v>
              </c:pt>
              <c:pt idx="12">
                <c:v>2.951</c:v>
              </c:pt>
              <c:pt idx="13">
                <c:v>3.959</c:v>
              </c:pt>
              <c:pt idx="14">
                <c:v>4.208</c:v>
              </c:pt>
              <c:pt idx="15">
                <c:v>4.293</c:v>
              </c:pt>
              <c:pt idx="16">
                <c:v>4.308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8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EA9B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85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8EA9BA"/>
                    </a:solidFill>
                  </a:rPr>
                  <a:t>Yield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8EA9BA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EA9B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Average yield</c:v>
          </c:tx>
          <c:spPr>
            <a:solidFill xmlns:a="http://schemas.openxmlformats.org/drawingml/2006/main">
              <a:srgbClr val="2ED3C6"/>
            </a:solidFill>
          </c:spPr>
          <c:dPt>
            <c:idx val="0"/>
            <c:spPr>
              <a:solidFill xmlns:a="http://schemas.openxmlformats.org/drawingml/2006/main">
                <a:srgbClr val="E7B34A"/>
              </a:solidFill>
            </c:spPr>
          </c:dPt>
          <c:dPt>
            <c:idx val="1"/>
            <c:spPr>
              <a:solidFill xmlns:a="http://schemas.openxmlformats.org/drawingml/2006/main">
                <a:srgbClr val="2ED3C6"/>
              </a:solidFill>
            </c:spPr>
          </c:dPt>
          <c:dPt>
            <c:idx val="2"/>
            <c:spPr>
              <a:solidFill xmlns:a="http://schemas.openxmlformats.org/drawingml/2006/main">
                <a:srgbClr val="2ED3C6"/>
              </a:solidFill>
            </c:spPr>
          </c:dPt>
          <c:dPt>
            <c:idx val="3"/>
            <c:spPr>
              <a:solidFill xmlns:a="http://schemas.openxmlformats.org/drawingml/2006/main">
                <a:srgbClr val="2ED3C6"/>
              </a:solidFill>
            </c:spPr>
          </c:dPt>
          <c:dPt>
            <c:idx val="4"/>
            <c:spPr>
              <a:solidFill xmlns:a="http://schemas.openxmlformats.org/drawingml/2006/main">
                <a:srgbClr val="2ED3C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Higher-for-longer</c:v>
              </c:pt>
              <c:pt idx="1">
                <c:v>Repricing</c:v>
              </c:pt>
              <c:pt idx="2">
                <c:v>Pandemic</c:v>
              </c:pt>
              <c:pt idx="3">
                <c:v>Low-rate era</c:v>
              </c:pt>
              <c:pt idx="4">
                <c:v>Post-GFC</c:v>
              </c:pt>
            </c:strLit>
          </c:cat>
          <c:val>
            <c:numLit>
              <c:formatCode>General</c:formatCode>
              <c:ptCount val="5"/>
              <c:pt idx="0">
                <c:v>4.26</c:v>
              </c:pt>
              <c:pt idx="1">
                <c:v>3.46</c:v>
              </c:pt>
              <c:pt idx="2">
                <c:v>1.17</c:v>
              </c:pt>
              <c:pt idx="3">
                <c:v>2.27</c:v>
              </c:pt>
              <c:pt idx="4">
                <c:v>2.54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8FBF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85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EA9B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E7F0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Volatility</c:v>
          </c:tx>
          <c:spPr>
            <a:solidFill xmlns:a="http://schemas.openxmlformats.org/drawingml/2006/main">
              <a:srgbClr val="FF6B5F"/>
            </a:solidFill>
          </c:spPr>
          <c:dPt>
            <c:idx val="0"/>
            <c:spPr>
              <a:solidFill xmlns:a="http://schemas.openxmlformats.org/drawingml/2006/main">
                <a:srgbClr val="69BDF3"/>
              </a:solidFill>
            </c:spPr>
          </c:dPt>
          <c:dPt>
            <c:idx val="1"/>
            <c:spPr>
              <a:solidFill xmlns:a="http://schemas.openxmlformats.org/drawingml/2006/main">
                <a:srgbClr val="FF6B5F"/>
              </a:solidFill>
            </c:spPr>
          </c:dPt>
          <c:dPt>
            <c:idx val="2"/>
            <c:spPr>
              <a:solidFill xmlns:a="http://schemas.openxmlformats.org/drawingml/2006/main">
                <a:srgbClr val="69BDF3"/>
              </a:solidFill>
            </c:spPr>
          </c:dPt>
          <c:dPt>
            <c:idx val="3"/>
            <c:spPr>
              <a:solidFill xmlns:a="http://schemas.openxmlformats.org/drawingml/2006/main">
                <a:srgbClr val="69BDF3"/>
              </a:solidFill>
            </c:spPr>
          </c:dPt>
          <c:dPt>
            <c:idx val="4"/>
            <c:spPr>
              <a:solidFill xmlns:a="http://schemas.openxmlformats.org/drawingml/2006/main">
                <a:srgbClr val="69BDF3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Higher-for-longer</c:v>
              </c:pt>
              <c:pt idx="1">
                <c:v>Repricing</c:v>
              </c:pt>
              <c:pt idx="2">
                <c:v>Pandemic</c:v>
              </c:pt>
              <c:pt idx="3">
                <c:v>Low-rate era</c:v>
              </c:pt>
              <c:pt idx="4">
                <c:v>Post-GFC</c:v>
              </c:pt>
            </c:strLit>
          </c:cat>
          <c:val>
            <c:numLit>
              <c:formatCode>General</c:formatCode>
              <c:ptCount val="5"/>
              <c:pt idx="0">
                <c:v>81.8</c:v>
              </c:pt>
              <c:pt idx="1">
                <c:v>121.2</c:v>
              </c:pt>
              <c:pt idx="2">
                <c:v>78.3</c:v>
              </c:pt>
              <c:pt idx="3">
                <c:v>68.3</c:v>
              </c:pt>
              <c:pt idx="4">
                <c:v>85.6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8FBF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85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EA9B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E7F0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Month-end yield</c:v>
          </c:tx>
          <c:spPr>
            <a:ln xmlns:a="http://schemas.openxmlformats.org/drawingml/2006/main" w="47625">
              <a:solidFill>
                <a:srgbClr val="FF6B5F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6"/>
              <c:pt idx="0">
                <c:v>2020 Q1</c:v>
              </c:pt>
              <c:pt idx="1">
                <c:v>2020 Q2</c:v>
              </c:pt>
              <c:pt idx="2">
                <c:v>2020 Q3</c:v>
              </c:pt>
              <c:pt idx="3">
                <c:v>2020 Q4</c:v>
              </c:pt>
              <c:pt idx="4">
                <c:v>2021 Q1</c:v>
              </c:pt>
              <c:pt idx="5">
                <c:v>2021 Q2</c:v>
              </c:pt>
              <c:pt idx="6">
                <c:v>2021 Q3</c:v>
              </c:pt>
              <c:pt idx="7">
                <c:v>2021 Q4</c:v>
              </c:pt>
              <c:pt idx="8">
                <c:v>2022 Q1</c:v>
              </c:pt>
              <c:pt idx="9">
                <c:v>2022 Q2</c:v>
              </c:pt>
              <c:pt idx="10">
                <c:v>2022 Q3</c:v>
              </c:pt>
              <c:pt idx="11">
                <c:v>2022 Q4</c:v>
              </c:pt>
              <c:pt idx="12">
                <c:v>2023 Q1</c:v>
              </c:pt>
              <c:pt idx="13">
                <c:v>2023 Q2</c:v>
              </c:pt>
              <c:pt idx="14">
                <c:v>2023 Q3</c:v>
              </c:pt>
              <c:pt idx="15">
                <c:v>2023 Q4</c:v>
              </c:pt>
              <c:pt idx="16">
                <c:v>2024 Q1</c:v>
              </c:pt>
              <c:pt idx="17">
                <c:v>2024 Q2</c:v>
              </c:pt>
              <c:pt idx="18">
                <c:v>2024 Q3</c:v>
              </c:pt>
              <c:pt idx="19">
                <c:v>2024 Q4</c:v>
              </c:pt>
              <c:pt idx="20">
                <c:v>2025 Q1</c:v>
              </c:pt>
              <c:pt idx="21">
                <c:v>2025 Q2</c:v>
              </c:pt>
              <c:pt idx="22">
                <c:v>2025 Q3</c:v>
              </c:pt>
              <c:pt idx="23">
                <c:v>2025 Q4</c:v>
              </c:pt>
              <c:pt idx="24">
                <c:v>2026 Q1</c:v>
              </c:pt>
              <c:pt idx="25">
                <c:v>2026 Q2</c:v>
              </c:pt>
            </c:strLit>
          </c:cat>
          <c:val>
            <c:numLit>
              <c:formatCode>0.0</c:formatCode>
              <c:ptCount val="26"/>
              <c:pt idx="0">
                <c:v>0.7</c:v>
              </c:pt>
              <c:pt idx="1">
                <c:v>0.66</c:v>
              </c:pt>
              <c:pt idx="2">
                <c:v>0.69</c:v>
              </c:pt>
              <c:pt idx="3">
                <c:v>0.93</c:v>
              </c:pt>
              <c:pt idx="4">
                <c:v>1.74</c:v>
              </c:pt>
              <c:pt idx="5">
                <c:v>1.45</c:v>
              </c:pt>
              <c:pt idx="6">
                <c:v>1.52</c:v>
              </c:pt>
              <c:pt idx="7">
                <c:v>1.52</c:v>
              </c:pt>
              <c:pt idx="8">
                <c:v>2.32</c:v>
              </c:pt>
              <c:pt idx="9">
                <c:v>2.98</c:v>
              </c:pt>
              <c:pt idx="10">
                <c:v>3.83</c:v>
              </c:pt>
              <c:pt idx="11">
                <c:v>3.88</c:v>
              </c:pt>
              <c:pt idx="12">
                <c:v>3.48</c:v>
              </c:pt>
              <c:pt idx="13">
                <c:v>3.81</c:v>
              </c:pt>
              <c:pt idx="14">
                <c:v>4.59</c:v>
              </c:pt>
              <c:pt idx="15">
                <c:v>3.88</c:v>
              </c:pt>
              <c:pt idx="16">
                <c:v>4.2</c:v>
              </c:pt>
              <c:pt idx="17">
                <c:v>4.36</c:v>
              </c:pt>
              <c:pt idx="18">
                <c:v>3.81</c:v>
              </c:pt>
              <c:pt idx="19">
                <c:v>4.58</c:v>
              </c:pt>
              <c:pt idx="20">
                <c:v>4.23</c:v>
              </c:pt>
              <c:pt idx="21">
                <c:v>4.24</c:v>
              </c:pt>
              <c:pt idx="22">
                <c:v>4.16</c:v>
              </c:pt>
              <c:pt idx="23">
                <c:v>4.18</c:v>
              </c:pt>
              <c:pt idx="24">
                <c:v>4.3</c:v>
              </c:pt>
              <c:pt idx="25">
                <c:v>4.5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8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EA9B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85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8EA9BA"/>
                    </a:solidFill>
                  </a:rPr>
                  <a:t>Yield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8EA9BA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EA9B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roundedCorners val="0"/>
  <c:chart>
    <c:plotArea>
      <c:layout/>
      <c:scatterChart>
        <c:scatterStyle val="marker"/>
        <c:ser>
          <c:idx val="0"/>
          <c:order val="0"/>
          <c:tx>
            <c:v>2010–2021</c:v>
          </c:tx>
          <c:spPr>
            <a:solidFill xmlns:a="http://schemas.openxmlformats.org/drawingml/2006/main">
              <a:srgbClr val="69BDF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10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12"/>
              <c:pt idx="0">
                <c:v>3.215</c:v>
              </c:pt>
              <c:pt idx="1">
                <c:v>2.782</c:v>
              </c:pt>
              <c:pt idx="2">
                <c:v>1.803</c:v>
              </c:pt>
              <c:pt idx="3">
                <c:v>2.35</c:v>
              </c:pt>
              <c:pt idx="4">
                <c:v>2.54</c:v>
              </c:pt>
              <c:pt idx="5">
                <c:v>2.138</c:v>
              </c:pt>
              <c:pt idx="6">
                <c:v>1.837</c:v>
              </c:pt>
              <c:pt idx="7">
                <c:v>2.329</c:v>
              </c:pt>
              <c:pt idx="8">
                <c:v>2.911</c:v>
              </c:pt>
              <c:pt idx="9">
                <c:v>2.141</c:v>
              </c:pt>
              <c:pt idx="10">
                <c:v>0.889</c:v>
              </c:pt>
              <c:pt idx="11">
                <c:v>1.447</c:v>
              </c:pt>
            </c:numLit>
          </c:xVal>
          <c:yVal>
            <c:numLit>
              <c:formatCode>0</c:formatCode>
              <c:ptCount val="12"/>
              <c:pt idx="0">
                <c:v>104.2</c:v>
              </c:pt>
              <c:pt idx="1">
                <c:v>104.7</c:v>
              </c:pt>
              <c:pt idx="2">
                <c:v>71.3</c:v>
              </c:pt>
              <c:pt idx="3">
                <c:v>76.1</c:v>
              </c:pt>
              <c:pt idx="4">
                <c:v>61.4</c:v>
              </c:pt>
              <c:pt idx="5">
                <c:v>86.4</c:v>
              </c:pt>
              <c:pt idx="6">
                <c:v>70.2</c:v>
              </c:pt>
              <c:pt idx="7">
                <c:v>56.4</c:v>
              </c:pt>
              <c:pt idx="8">
                <c:v>55.3</c:v>
              </c:pt>
              <c:pt idx="9">
                <c:v>69.1</c:v>
              </c:pt>
              <c:pt idx="10">
                <c:v>87.3</c:v>
              </c:pt>
              <c:pt idx="11">
                <c:v>68.1</c:v>
              </c:pt>
            </c:numLit>
          </c:yVal>
        </c:ser>
        <c:ser>
          <c:idx val="1"/>
          <c:order val="1"/>
          <c:tx>
            <c:v>2022–2023 repricing</c:v>
          </c:tx>
          <c:spPr>
            <a:solidFill xmlns:a="http://schemas.openxmlformats.org/drawingml/2006/main">
              <a:srgbClr val="FF6B5F"/>
            </a:solidFill>
            <a:ln xmlns:a="http://schemas.openxmlformats.org/drawingml/2006/main" w="0">
              <a:noFill/>
              <a:prstDash val="solid"/>
            </a:ln>
          </c:spPr>
          <c:marker>
            <c:symbol val="diamond"/>
            <c:size val="1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2.951</c:v>
              </c:pt>
              <c:pt idx="1">
                <c:v>3.959</c:v>
              </c:pt>
            </c:numLit>
          </c:xVal>
          <c:yVal>
            <c:numLit>
              <c:formatCode>0</c:formatCode>
              <c:ptCount val="2"/>
              <c:pt idx="0">
                <c:v>123.4</c:v>
              </c:pt>
              <c:pt idx="1">
                <c:v>118.6</c:v>
              </c:pt>
            </c:numLit>
          </c:yVal>
        </c:ser>
        <c:ser>
          <c:idx val="2"/>
          <c:order val="2"/>
          <c:tx>
            <c:v>2024–2026 high plateau</c:v>
          </c:tx>
          <c:spPr>
            <a:solidFill xmlns:a="http://schemas.openxmlformats.org/drawingml/2006/main">
              <a:srgbClr val="E7B34A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1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3"/>
              <c:pt idx="0">
                <c:v>4.208</c:v>
              </c:pt>
              <c:pt idx="1">
                <c:v>4.293</c:v>
              </c:pt>
              <c:pt idx="2">
                <c:v>4.308</c:v>
              </c:pt>
            </c:numLit>
          </c:xVal>
          <c:yVal>
            <c:numLit>
              <c:formatCode>0</c:formatCode>
              <c:ptCount val="3"/>
              <c:pt idx="0">
                <c:v>91.3</c:v>
              </c:pt>
              <c:pt idx="1">
                <c:v>77.9</c:v>
              </c:pt>
              <c:pt idx="2">
                <c:v>68.8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85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8EA9BA"/>
                    </a:solidFill>
                  </a:rPr>
                  <a:t>Annualized daily volatility (bp)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8EA9BA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2948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EA9BA"/>
                </a:solidFill>
              </a:defRPr>
            </a:pPr>
          </a:p>
        </c:txPr>
        <c:crossAx val="48650112"/>
        <c:crosses val="autoZero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29485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8EA9BA"/>
                    </a:solidFill>
                  </a:rPr>
                  <a:t>Annual average yield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8EA9BA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948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EA9BA"/>
                </a:solidFill>
              </a:defRPr>
            </a:pPr>
          </a:p>
        </c:txPr>
        <c:crossAx val="48672768"/>
        <c:crosses val="autoZero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D9E7F0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Average rolling 21-observation volatility</c:v>
          </c:tx>
          <c:spPr>
            <a:ln xmlns:a="http://schemas.openxmlformats.org/drawingml/2006/main" w="38100">
              <a:solidFill>
                <a:srgbClr val="FF6B5F"/>
              </a:solidFill>
              <a:prstDash val="solid"/>
            </a:ln>
          </c:spPr>
          <c:marker>
            <c:symbol val="circle"/>
            <c:size val="8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7"/>
              <c:pt idx="0">
                <c:v>2010</c:v>
              </c:pt>
              <c:pt idx="1">
                <c:v>2011</c:v>
              </c:pt>
              <c:pt idx="2">
                <c:v>2012</c:v>
              </c:pt>
              <c:pt idx="3">
                <c:v>2013</c:v>
              </c:pt>
              <c:pt idx="4">
                <c:v>2014</c:v>
              </c:pt>
              <c:pt idx="5">
                <c:v>2015</c:v>
              </c:pt>
              <c:pt idx="6">
                <c:v>2016</c:v>
              </c:pt>
              <c:pt idx="7">
                <c:v>2017</c:v>
              </c:pt>
              <c:pt idx="8">
                <c:v>2018</c:v>
              </c:pt>
              <c:pt idx="9">
                <c:v>2019</c:v>
              </c:pt>
              <c:pt idx="10">
                <c:v>2020</c:v>
              </c:pt>
              <c:pt idx="11">
                <c:v>2021</c:v>
              </c:pt>
              <c:pt idx="12">
                <c:v>2022</c:v>
              </c:pt>
              <c:pt idx="13">
                <c:v>2023</c:v>
              </c:pt>
              <c:pt idx="14">
                <c:v>2024</c:v>
              </c:pt>
              <c:pt idx="15">
                <c:v>2025</c:v>
              </c:pt>
              <c:pt idx="16">
                <c:v>2026</c:v>
              </c:pt>
            </c:numLit>
          </c:cat>
          <c:val>
            <c:numLit>
              <c:formatCode>0</c:formatCode>
              <c:ptCount val="17"/>
              <c:pt idx="0">
                <c:v>99.5</c:v>
              </c:pt>
              <c:pt idx="1">
                <c:v>103.5</c:v>
              </c:pt>
              <c:pt idx="2">
                <c:v>72</c:v>
              </c:pt>
              <c:pt idx="3">
                <c:v>74</c:v>
              </c:pt>
              <c:pt idx="4">
                <c:v>60.8</c:v>
              </c:pt>
              <c:pt idx="5">
                <c:v>85.7</c:v>
              </c:pt>
              <c:pt idx="6">
                <c:v>68.6</c:v>
              </c:pt>
              <c:pt idx="7">
                <c:v>56.4</c:v>
              </c:pt>
              <c:pt idx="8">
                <c:v>53.4</c:v>
              </c:pt>
              <c:pt idx="9">
                <c:v>67.8</c:v>
              </c:pt>
              <c:pt idx="10">
                <c:v>75.3</c:v>
              </c:pt>
              <c:pt idx="11">
                <c:v>65.5</c:v>
              </c:pt>
              <c:pt idx="12">
                <c:v>119.1</c:v>
              </c:pt>
              <c:pt idx="13">
                <c:v>117.4</c:v>
              </c:pt>
              <c:pt idx="14">
                <c:v>90.5</c:v>
              </c:pt>
              <c:pt idx="15">
                <c:v>77.5</c:v>
              </c:pt>
              <c:pt idx="16">
                <c:v>65.6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8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EA9B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85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8EA9BA"/>
                    </a:solidFill>
                  </a:rPr>
                  <a:t>Annualized bp volatility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8EA9BA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EA9B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Daily change</c:v>
          </c:tx>
          <c:spPr>
            <a:solidFill xmlns:a="http://schemas.openxmlformats.org/drawingml/2006/main">
              <a:srgbClr val="2ED3C6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FF6B5F"/>
              </a:solidFill>
            </c:spPr>
          </c:dPt>
          <c:dPt>
            <c:idx val="1"/>
            <c:spPr>
              <a:solidFill xmlns:a="http://schemas.openxmlformats.org/drawingml/2006/main">
                <a:srgbClr val="FF6B5F"/>
              </a:solidFill>
            </c:spPr>
          </c:dPt>
          <c:dPt>
            <c:idx val="2"/>
            <c:spPr>
              <a:solidFill xmlns:a="http://schemas.openxmlformats.org/drawingml/2006/main">
                <a:srgbClr val="FF6B5F"/>
              </a:solidFill>
            </c:spPr>
          </c:dPt>
          <c:dPt>
            <c:idx val="3"/>
            <c:spPr>
              <a:solidFill xmlns:a="http://schemas.openxmlformats.org/drawingml/2006/main">
                <a:srgbClr val="FF6B5F"/>
              </a:solidFill>
            </c:spPr>
          </c:dPt>
          <c:dPt>
            <c:idx val="4"/>
            <c:spPr>
              <a:solidFill xmlns:a="http://schemas.openxmlformats.org/drawingml/2006/main">
                <a:srgbClr val="FF6B5F"/>
              </a:solidFill>
            </c:spPr>
          </c:dPt>
          <c:dPt>
            <c:idx val="5"/>
            <c:spPr>
              <a:solidFill xmlns:a="http://schemas.openxmlformats.org/drawingml/2006/main">
                <a:srgbClr val="2ED3C6"/>
              </a:solidFill>
            </c:spPr>
          </c:dPt>
          <c:dPt>
            <c:idx val="6"/>
            <c:spPr>
              <a:solidFill xmlns:a="http://schemas.openxmlformats.org/drawingml/2006/main">
                <a:srgbClr val="2ED3C6"/>
              </a:solidFill>
            </c:spPr>
          </c:dPt>
          <c:dPt>
            <c:idx val="7"/>
            <c:spPr>
              <a:solidFill xmlns:a="http://schemas.openxmlformats.org/drawingml/2006/main">
                <a:srgbClr val="2ED3C6"/>
              </a:solidFill>
            </c:spPr>
          </c:dPt>
          <c:dPt>
            <c:idx val="8"/>
            <c:spPr>
              <a:solidFill xmlns:a="http://schemas.openxmlformats.org/drawingml/2006/main">
                <a:srgbClr val="2ED3C6"/>
              </a:solidFill>
            </c:spPr>
          </c:dPt>
          <c:dPt>
            <c:idx val="9"/>
            <c:spPr>
              <a:solidFill xmlns:a="http://schemas.openxmlformats.org/drawingml/2006/main">
                <a:srgbClr val="2ED3C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2022-11-10</c:v>
              </c:pt>
              <c:pt idx="1">
                <c:v>2022-09-28</c:v>
              </c:pt>
              <c:pt idx="2">
                <c:v>2023-03-10</c:v>
              </c:pt>
              <c:pt idx="3">
                <c:v>2020-03-16</c:v>
              </c:pt>
              <c:pt idx="4">
                <c:v>2020-03-20</c:v>
              </c:pt>
              <c:pt idx="5">
                <c:v>2010-12-14</c:v>
              </c:pt>
              <c:pt idx="6">
                <c:v>2013-07-05</c:v>
              </c:pt>
              <c:pt idx="7">
                <c:v>2020-03-10</c:v>
              </c:pt>
              <c:pt idx="8">
                <c:v>2022-06-13</c:v>
              </c:pt>
              <c:pt idx="9">
                <c:v>2020-03-17</c:v>
              </c:pt>
            </c:strLit>
          </c:cat>
          <c:val>
            <c:numLit>
              <c:formatCode>General</c:formatCode>
              <c:ptCount val="10"/>
              <c:pt idx="0">
                <c:v>-30</c:v>
              </c:pt>
              <c:pt idx="1">
                <c:v>-25</c:v>
              </c:pt>
              <c:pt idx="2">
                <c:v>-23</c:v>
              </c:pt>
              <c:pt idx="3">
                <c:v>-21</c:v>
              </c:pt>
              <c:pt idx="4">
                <c:v>-20</c:v>
              </c:pt>
              <c:pt idx="5">
                <c:v>20</c:v>
              </c:pt>
              <c:pt idx="6">
                <c:v>21</c:v>
              </c:pt>
              <c:pt idx="7">
                <c:v>22</c:v>
              </c:pt>
              <c:pt idx="8">
                <c:v>28</c:v>
              </c:pt>
              <c:pt idx="9">
                <c:v>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8FBF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85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8EA9BA"/>
                    </a:solidFill>
                  </a:rPr>
                  <a:t>One-day change (bp)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8EA9BA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2948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EA9B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7F0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F3094F-4AE1-420F-8F07-038ED28E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79BFF-E80C-4CD0-9EA4-CDAAF0D5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FRED DGS10 / INDEPENDENT DATA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33E25-4B60-462C-A183-66AF95B1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857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57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457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4,298 rows.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57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457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One Treasury market.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57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457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No fabricated rankings.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DDBFE-9DE6-4F81-B786-1B2A037C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800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A verified 2010–2026 dashboard of US 10-year yields, volatility regimes, shocks, momentum,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18E49-5C23-4331-8A13-D51DA222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24750"/>
            <a:ext cx="91059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2344E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1262B-B698-4B99-A323-5BDDB90A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8867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16.5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4DE1D-8702-441E-A19E-B170FF41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601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years of weekday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45B1C-CB75-41AA-8F1C-74880A4F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8867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4.50%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1B34F-199D-473E-9C81-87069315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601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latest yield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2026-06-23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7DE2D-283F-41B2-98BA-E230D7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867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97th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86F97-B4D7-4A84-80F8-D1DCBD23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601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historical percentile of latest yield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4A1B9-7E04-4A54-B414-AF0547B9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5443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MBA-style carousel • editable PowerPoint charts • calculations rebuilt directly from fred_dgs10.csv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D036D-2C10-4B28-BEFF-7295E9FC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15443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5014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3E31AB-A8C6-4F92-AF33-935DEA27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84DBA-FFAC-4F3B-A181-84840EF8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499D2-612F-4217-9BAD-0FB71F06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E6577-F896-4878-91C5-44344E3F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C8240-C10C-4711-9EB4-713F3AFB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0A269-9D38-4793-8018-4CDA7E20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24A7F-91D5-46A2-AB40-4CCE9E8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FAE7A-E258-4F91-9C4A-A6543FD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B14BA-97A2-422C-960B-09D11C46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2EE50-68D6-4E6F-A4F6-5FF86BA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18999-8064-4E40-8D4D-36058F0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F822A-CDA5-4A33-B889-A79B5E6C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BA21B-5591-4B1E-AA1F-E97A6772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The CSV is structurally clean—but narrower than the old 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3F33B-68E3-4926-BF55-B6448CD9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It supports a US Treasury yield analysis. It does not support global central-bank rankings.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DEFFB-EF3D-4887-89A0-FB4CF36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2952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FAEDC-5442-4E85-923F-9B475C20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4,298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5325E-B6E2-40B0-B937-30915E32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weekday rows from 2010-01-01 to 2026-06-23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572BD-1FB0-4899-A55C-C7A36C0E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71900"/>
            <a:ext cx="2952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F74EB-C0F5-43A4-9066-4408B6A4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095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4,120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C9FFC-D035-4401-82D7-431FC5C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8101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valid yield observations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F48EC-CB40-4DB0-AD7E-4CF3FDF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2952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95934-AD66-427B-A978-4C77DCF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95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08A70-2096-4933-A801-18EDA4FF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101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4.1% null holiday markers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1EE8F-CAC8-4C3C-8B8A-EB9B1F2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4381500" cy="495300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D7991B-A115-421A-88D9-23F4F848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COMPLETENESS</a:t>
            </a:r>
          </a:p>
        </p:txBody>
      </p:sp>
      <p:graphicFrame>
        <p:nvGraphicFramePr>
          <p:cNvPr id="77" name="Chart"/>
          <p:cNvGraphicFramePr/>
          <p:nvPr/>
        </p:nvGraphicFramePr>
        <p:xfrm>
          <a:off xmlns:a="http://schemas.openxmlformats.org/drawingml/2006/main" x="857250" y="674370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bb12f85bd44908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96D75-AA50-4350-8A9B-683023B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4572000" cy="4953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DA69AA-776E-42A4-A9F6-2404A5BF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229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INTEGRITY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97713-93AE-4DE1-BF66-C1732B4F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896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1BE33-3D51-492A-832D-602244D6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915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Expected weekdays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4CDECC-C93B-4833-B7AB-AADCFE9D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9151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66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4,298 / 4,298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F6698-AED2-49EB-8A95-C6991BB5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362825"/>
            <a:ext cx="394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8EE856-141D-4FFD-8F2D-5D89249F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6295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9F9CEE-DF57-4A62-9AE7-B36F6D1C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648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Duplicate 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4DCC0-90F7-4756-BE56-78E708F3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6485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A7239-E535-4E3F-8BB2-EF296497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96250"/>
            <a:ext cx="394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E4BC9B-1C98-4624-A961-4A9A2C84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8362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1DFA64-E0DC-4E60-A237-1C0A64C3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82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Out-of-order dates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004F96-2052-4F08-8789-02B2EA2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83820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7797C1-B7CF-4EA1-96E8-994B1409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829675"/>
            <a:ext cx="394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D52A2B-A5DA-4CE9-A220-1C7ADB5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90963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5C5523-5383-4B79-81E4-67F90D79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115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Weekend rows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1B65D7-9F97-43E1-ACD6-9240B92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1154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2F38D8-75D1-4290-A0AE-7F763E00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9563100"/>
            <a:ext cx="394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AAA3FA-CF01-4649-9B38-2243D465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98298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3754E2-3C3B-4488-9288-748CE3E6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848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Unexpected series IDs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FC1AB2-4DAD-4647-A675-8AAD5A4C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8488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379271-388C-4D07-982B-3A88A74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296525"/>
            <a:ext cx="394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2CC249-FB74-4763-841A-1481C7C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287000"/>
            <a:ext cx="3943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Audit verdict: usable as a single-series market dataset; unsuitable as evidence for cross-country credibility scores.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6A46B9-9338-432A-AA84-CB3A8EF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D912FC-32E4-4132-847E-0D858373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Source: fred_dgs10.csv. Null rows are retained in the file but excluded from statistical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747135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B2B36F-435A-422C-B5FA-A883ABDC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08964-CDED-40A0-9BEA-E841626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DF3A1-E03F-43F0-8152-F2E7B0C1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31CD4-B5B4-4CEB-8620-0074983E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8F32A-70F6-4370-80E5-AD69D5B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ED391-93A6-4C06-9A57-5DEDF3A4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F43D7-E0F9-4B8A-9BB6-519E0728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6558D-C195-44B0-A3B7-6538380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83FCB-0530-46EC-B337-3B75C39E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CBD85-DE7E-4330-BB20-7B5D2563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07D1B-E7A6-40F2-AF69-431CD7F8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8A029-DFB3-495D-A8C6-815BA9B6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7FE32-CAA9-4B74-8762-8FB38B8A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The 16-year history is a U-shaped regime shift.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F43F5-C36B-4397-AEF3-94EDB7C2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Yields fell for a decade, collapsed in 2020, then repriced to the highest sustained zone in the sample.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EBE43-6230-4B20-B966-3CE4DC9E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9144000" cy="647700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D3CF4-2AF1-4700-BC61-41F2EC82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MONTHLY AVERAGE US 10-YEAR TREASURY YIELD (%)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781050" y="4572000"/>
          <a:ext xmlns:a="http://schemas.openxmlformats.org/drawingml/2006/main" cx="866775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d4e722cc674f51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5CE75-33F3-4619-B0A8-222F0133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0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00E62-55AF-492F-A28D-53ECABA5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965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0.52%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E5F51-B0A3-409F-8F97-9CF54A0A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10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sample low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2020-08-04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6F6BA-3C27-4035-94C1-BD263F9D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477500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D1664-FDB9-4826-8227-F5BD0425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06965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4.98%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CF9B9-D3A3-463D-973F-44F245B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1410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sample peak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2023-10-19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F67BE-2381-4246-966F-51478760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477500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E1E9A-86D1-4872-80E1-26E90A80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6965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4.50%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9FAA8-EBBC-482B-BABC-B30CBD37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410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latest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2026-06-23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217BE-46E2-4980-9F51-FA54CBD0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C4AB3-D47B-4B0C-9FA7-3C8D8CE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Monthly averages calculated from valid daily observations; y-axis values are percentage points, not percentage-formatted decimals.</a:t>
            </a:r>
          </a:p>
        </p:txBody>
      </p:sp>
    </p:spTree>
    <p:extLst>
      <p:ext uri="{BB962C8B-B14F-4D97-AF65-F5344CB8AC3E}">
        <p14:creationId xmlns:p14="http://schemas.microsoft.com/office/powerpoint/2010/main" val="1667211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B8419-90AB-4E41-AF04-4C111D18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BA8FE-30FF-49CE-9873-6660F5EB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BEF2-A3AF-4326-96E2-CF01563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99951-833F-406D-86EF-29C71F3C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D06E0-DBAE-40FF-A934-50148DD1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79893-59EF-45AF-927D-014A6BDC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2F026-CA11-4F09-AA29-A14B617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1AF10-6AA2-458F-B1B7-F8D06BAE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5F2B1-20F7-4584-92F0-CAC88EC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4B05B-70D5-4BEC-8BB8-0AB0226F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C4EF8-DFC0-4EB6-9CD2-5E0CDAF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8AE61-38D2-4F72-94F7-9D30B9A9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CEBC9-C509-4446-A3EA-78F7C067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Five regimes explain more than one continuous 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91F34-B9DD-49C9-89EA-C946CBAC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Average yield and annualized daily volatility tell different parts of the market 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D7874-35CF-4E1F-98D5-55B4FEF6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4381500" cy="676275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63AF9-EAF7-4BF2-B8C0-713EFCAD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AVERAGE YIELD BY REGIME (%)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838200" y="4591050"/>
          <a:ext xmlns:a="http://schemas.openxmlformats.org/drawingml/2006/main" cx="3857625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b810941b604b15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23C93-E5A3-46BA-A039-F214D4CB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4572000" cy="67627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8F05D-4D86-4459-A86E-98078769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95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ANNUALIZED DAILY VOLATILITY (BP)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5410200" y="4591050"/>
          <a:ext xmlns:a="http://schemas.openxmlformats.org/drawingml/2006/main" cx="4048125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74561b050e401d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D67B1-1E85-44FA-9891-3E75A385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The 2022–23 repricing regime produced the highest volatility. The 2024–26 regime produced the highest average yield.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D5C86-3988-4C2C-9470-465494A7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16B3A-6BB2-4E68-AB07-C6BF7655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Regimes are analytical date bands defined for this carousel; volatility is standard deviation of daily bp changes × √252.</a:t>
            </a:r>
          </a:p>
        </p:txBody>
      </p:sp>
    </p:spTree>
    <p:extLst>
      <p:ext uri="{BB962C8B-B14F-4D97-AF65-F5344CB8AC3E}">
        <p14:creationId xmlns:p14="http://schemas.microsoft.com/office/powerpoint/2010/main" val="646456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9F3556-A2D0-4F96-9340-783EFBFB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C5B1C-3103-4DEE-B5DE-D062AB8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410D8-6E6D-444C-AB2A-28AAA2C5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10C22-7A40-49C1-BDA4-06F48990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AB45F-37C0-458B-A2AC-4E7373F3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B0E0C-5D1F-48C9-89E6-D37245E4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BF0BE-DC61-4B11-AD4D-11317FC5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AF191-5667-4D55-B007-5AAACBA5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33DB9-721C-4E33-A88A-A054C64F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6AC48-5090-43CE-BFA0-1427183E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8008A-AF30-49AA-A495-3AB75789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523A1-461D-4D59-8BB3-3FB1BDE6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EFD76-15A2-4446-8968-EA6B85E0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The pandemic trough did not mean-revert—it fully repriced.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075D4-7A8A-4B84-AB80-73B78165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From 0.52% in August 2020 to 4.98% in October 2023, the 10-year yield rose 446 basis points.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1F1D4-E6FB-453B-A51E-8CB0D6ED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9144000" cy="581025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781050" y="4191000"/>
          <a:ext xmlns:a="http://schemas.openxmlformats.org/drawingml/2006/main" cx="86677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3dd818b6144621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22454-C93C-4557-A8FB-348D64E0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C7272-5059-4182-ABBE-7D3E23D4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191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446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A75C4-6F30-4B0A-9D00-F7048A1F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061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bp trough-to-peak repricing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3C1E4-06BE-4407-817C-6E3F3011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44597-BAB8-425B-8272-86ECA1DF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0191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90.6%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C52EE-6D6C-446B-BEDA-142DB5B7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09061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share of 2024–26 observations at or above 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25FDC-9B79-449F-84F1-32A83941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90600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ED8B1-EAA8-44DB-B270-8AE51EBA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191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78132-24E3-45FC-90CD-33C629AD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9061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calendar days in current ≥4% run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from 2026-03-02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59A58-6FD5-41C3-B463-0525AA99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0960CC-032E-4964-B8BF-1EAA7C78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Month-end values use the last valid observation in each month. Current ≥4% run ends at the latest CSV date.</a:t>
            </a:r>
          </a:p>
        </p:txBody>
      </p:sp>
    </p:spTree>
    <p:extLst>
      <p:ext uri="{BB962C8B-B14F-4D97-AF65-F5344CB8AC3E}">
        <p14:creationId xmlns:p14="http://schemas.microsoft.com/office/powerpoint/2010/main" val="10481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0BDC7F-F557-40D6-8382-CF571361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4A0DC-82EA-4CAA-B282-35E31736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DF55A-3DCB-436B-9C4A-05E493B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1A870-C4D4-4BC2-A3B1-B02682AC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CF756-60DC-47DC-A201-89F24FB2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BED70-20EA-4446-B2F5-2929ED1E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A9CFD-7233-409C-B1F5-F7E4E688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860FF-BEF5-4197-AFAD-570EEFDF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3A20C-FC40-468F-98D6-F5D75FD6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99E10-2A22-49A4-B5C1-29FF9CE5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981BF-A3A2-4AEC-B6F3-D8EE6354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BFF63-0E2F-4DF3-AEFD-1DFC7A89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5FBD3-1E2C-4245-968F-B61E663F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High yield does not automatically mean high disorder.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52DEB-1BC8-4145-B2E5-B311638E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Annual averages and annualized daily volatility separate level risk from market instability.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B39D7-BAD7-4E61-B1D7-CFF982B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9144000" cy="65722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781050" y="4171950"/>
          <a:ext xmlns:a="http://schemas.openxmlformats.org/drawingml/2006/main" cx="8477250" cy="542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4e808780fe4dd0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D8384-2728-48B7-B43F-AC6052F3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0"/>
            <a:ext cx="2857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74CC7-8F5B-4CED-9894-E780001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3945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4.31%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559E6-117A-4B24-9750-55A9910F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53825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2026 YTD average yield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5A427-3AD0-453E-9871-BB8E74B7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668000"/>
            <a:ext cx="2857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D99E1-C35F-42BA-8EEA-B289ADE6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083945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69 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1EC47-7F5C-48A3-B0BE-9668D41E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1553825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2026 YTD annualized volatility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27FA0-277E-4167-A786-0B32FB2C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0"/>
            <a:ext cx="2857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CEAE5-7038-4C42-9DDB-DE9BFEEE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83945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39th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1227A-9219-4822-A29C-595B2C45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553825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current 21-day volatility percentile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5FAE0-E5FE-439A-B716-6C88FA46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79139-6B2A-4C7D-8B4E-1214A049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2026 is year-to-date through 23 Jun. Scatter uses one point per year; the chart distinguishes level from volatility.</a:t>
            </a:r>
          </a:p>
        </p:txBody>
      </p:sp>
    </p:spTree>
    <p:extLst>
      <p:ext uri="{BB962C8B-B14F-4D97-AF65-F5344CB8AC3E}">
        <p14:creationId xmlns:p14="http://schemas.microsoft.com/office/powerpoint/2010/main" val="475215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9577E-0510-4460-B4F9-CD5193DF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9E87D-3588-428D-90CD-42366835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3630C-BAF8-4705-BE2F-3351929F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0B77F-FC4B-49AB-858C-9813CCF8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E54FE-AFA3-47BE-B4CD-23F5728F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134A8-ED1E-49FE-800D-FAD14AD2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39B4D-F957-46D6-9B85-207932D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F8CAA-89BA-4D45-A859-1D69EE37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EA8A0-727B-4517-8A93-B9344FE3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6F03D-6E96-493B-ABDE-A9E666FB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09FB1-5F0C-4AC8-9350-2DD74D3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CF136-3FAE-430B-9180-4653E56E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308FC-9BD7-43B3-A71C-A9CA6560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Today’s volatility is ordinary relative to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61CA6-9ED7-431C-9A62-DE17EB9E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The yield level is extreme, but the latest 21-observation volatility reading is below the historical median.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DE9B4-FB2F-4B1E-85C4-54C01F45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9144000" cy="6096000"/>
          </a:xfrm>
          <a:prstGeom xmlns:a="http://schemas.openxmlformats.org/drawingml/2006/main" prst="roundRect">
            <a:avLst>
              <a:gd name="adj" fmla="val 2813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781050" y="4210050"/>
          <a:ext xmlns:a="http://schemas.openxmlformats.org/drawingml/2006/main" cx="866775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0f9d726ae341bb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3AAC5-CB47-4C68-B08F-F079B3FB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191750"/>
            <a:ext cx="2857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6C5E4-9848-40A0-8462-088A67DC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39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230 bp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C0452-3B05-4408-8CAD-673C62E9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1537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peak reading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2020-03-26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17F0C-69B6-493A-B7B8-FF349AD8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191750"/>
            <a:ext cx="2857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DE879-672A-4469-8B3B-265A552D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0439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67 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DCBDD-551A-494A-8773-34C47011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11537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latest reading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2026-06-23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BC975-61FB-43AF-BFB4-BBE45821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191750"/>
            <a:ext cx="2857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964A3-10C4-4929-AE4E-F95F42EC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439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39th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CB348-6859-417C-923C-7E40FCD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1537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historical percentile of latest volatility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5B532-8CB6-475B-94E6-5080E93C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85A1C-926D-4636-A914-9667D9DA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Volatility = standard deviation of daily yield changes over 21 valid observations × √252, expressed in basis points.</a:t>
            </a:r>
          </a:p>
        </p:txBody>
      </p:sp>
    </p:spTree>
    <p:extLst>
      <p:ext uri="{BB962C8B-B14F-4D97-AF65-F5344CB8AC3E}">
        <p14:creationId xmlns:p14="http://schemas.microsoft.com/office/powerpoint/2010/main" val="1522611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CAC44-A1AC-4A2A-9FC8-DF1F186A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7368-5BEC-4808-8C18-11ED5086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87152-C07D-4ABA-8798-3B267216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91604-9D03-43A6-9566-A07B6F15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2BE90-77EE-40B4-934D-4F9028D0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C8804-8767-4C31-AF0B-822D1E22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EEF8A-D81E-4DDA-8386-BB1B2ABA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4F5CB-E9D7-4B8E-9BF2-90142139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4F1E1-9F27-419F-A483-4B97C779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176C8-CC4E-4230-807E-54F12C72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AFF9C-0F09-42F3-BD3D-6EF93767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EEE56-8F1A-4E8C-A675-6C5FE51F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1C703-9DF3-4E0A-BF28-C1B5279F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The largest shocks cluster around policy and macro resets.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4D4CD-35E4-4E8F-B426-B61FFEA4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The ten biggest absolute one-day moves in the sample range from −30 bp to +29 bp.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03375-BBCE-428E-83AF-CECFE675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9144000" cy="571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800100" y="4171950"/>
          <a:ext xmlns:a="http://schemas.openxmlformats.org/drawingml/2006/main" cx="85725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a74f1ab0324033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25358-3148-4142-BA6D-9910802F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0"/>
            <a:ext cx="2857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B8FCA-0D62-430D-93F7-58BBAA9F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53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1-DAY 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5EE3D-C9EB-4B88-A486-FA107289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925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+29 bp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FE782-1B3A-4C65-B25C-61023FF5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2020-03-17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24D8C-A6C8-4A0E-BF03-4959626D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810750"/>
            <a:ext cx="2857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0CF4E-4D7C-4B80-8E85-62BDF27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9953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1-DAY 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FFAD1-1C58-4474-B857-385404CC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9925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-30 bp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6FF0A-9082-4025-B210-1FF5CF9B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2870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2022-11-10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BC96F-A6AC-4F4E-B099-2207A27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810750"/>
            <a:ext cx="2857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E3BFE-985C-4A18-9666-0E2CB52C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953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~1-MONTH 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5BFCB-1D7C-497A-9F58-1AAB736C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9925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+85 bp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A39D39-E69A-4592-AB45-977C7358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2022-09-27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CDF50-21CF-46BF-8F49-9A697B1C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10875"/>
            <a:ext cx="2857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5BCF6-2F9E-4352-9EF9-013FAE8A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953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~1-MONTH DOWN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AA4F6-B1EE-4475-8802-3286858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9251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-105 bp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DC631D-D33F-4CC6-A130-5991444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87125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2020-03-09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47F28-30B8-45C8-94F2-467BA08A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810875"/>
            <a:ext cx="2857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DA3F9F-3076-4E23-85E2-D486B26C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953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~3-MONTH 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FA97EB-1B11-4384-8ECA-F3B36D0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9251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+147 bp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BB5D3-5052-40F8-910E-70671D87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287125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2022-10-20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E18697-DB26-44F4-824E-B4A5924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810875"/>
            <a:ext cx="2857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770A55-426F-4780-B636-4FD7B37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953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~3-MONTH DOWN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E6AB0E-F9D9-4644-965D-EC70E1EC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9251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69BDF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9BDF3"/>
                </a:solidFill>
                <a:latin typeface="Aptos"/>
                <a:ea typeface="Aptos"/>
                <a:cs typeface="Aptos"/>
              </a:rPr>
              <a:t>-136 bp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F386F5-157E-4935-9A02-8F604A8D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287125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2011-10-04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716EC8-451F-483E-9DD8-6A92D539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A6FD5F-FAAC-4325-834E-D0182715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One-month and three-month moves use 21 and 63 valid observations, respectively; dates mark the end of each window.</a:t>
            </a:r>
          </a:p>
        </p:txBody>
      </p:sp>
    </p:spTree>
    <p:extLst>
      <p:ext uri="{BB962C8B-B14F-4D97-AF65-F5344CB8AC3E}">
        <p14:creationId xmlns:p14="http://schemas.microsoft.com/office/powerpoint/2010/main" val="358171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58A7F-7CE8-42E0-92E2-357E050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8BEAC-636E-43FF-97DF-B5F85F27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5C065-AA04-4CD0-ADFF-BFA768D1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F0359-D6EA-4A6E-97E1-61AD43D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2DC4C-39AE-4214-8E6F-0D9511FB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BF50B-8E26-4487-9992-887212C2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F34C4-6C4F-46D0-8F76-45F7D337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D51D0-1255-40AF-B4BC-D038F1B0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57634-D546-4BFC-BF22-1F3EF5C3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B4D37-7AFF-4460-AF02-03C6DE2E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ABD8B-BE2A-415E-85F5-952D8D47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ACEC9-BF69-4503-997C-29732C0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B58AD-32D7-45C1-ABDE-71A0A12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The high-rate regime is persistent, not merely a spike.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D37A5-FC46-42C2-B1E4-DFB8F6F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Recent years combine historically high averages with less volatility than the 2022–23 repricing shock.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571500" y="3810000"/>
          <a:ext xmlns:a="http://schemas.openxmlformats.org/drawingml/2006/main" cx="9144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562100"/>
                <a:gridCol w="1562100"/>
                <a:gridCol w="1562100"/>
                <a:gridCol w="1562100"/>
                <a:gridCol w="1562100"/>
              </a:tblGrid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0A2032"/>
                          </a:solidFill>
                          <a:latin typeface="Aptos"/>
                          <a:ea typeface="Aptos"/>
                          <a:cs typeface="Aptos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2ED3C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0A2032"/>
                          </a:solidFill>
                          <a:latin typeface="Aptos"/>
                          <a:ea typeface="Aptos"/>
                          <a:cs typeface="Aptos"/>
                        </a:rPr>
                        <a:t>Avg yield</a:t>
                      </a:r>
                    </a:p>
                  </a:txBody>
                  <a:tcPr marL="91440" marR="91440" marT="45720" marB="45720">
                    <a:solidFill>
                      <a:srgbClr val="2ED3C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0A2032"/>
                          </a:solidFill>
                          <a:latin typeface="Aptos"/>
                          <a:ea typeface="Aptos"/>
                          <a:cs typeface="Aptos"/>
                        </a:rPr>
                        <a:t>Year-end</a:t>
                      </a:r>
                    </a:p>
                  </a:txBody>
                  <a:tcPr marL="91440" marR="91440" marT="45720" marB="45720">
                    <a:solidFill>
                      <a:srgbClr val="2ED3C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0A2032"/>
                          </a:solidFill>
                          <a:latin typeface="Aptos"/>
                          <a:ea typeface="Aptos"/>
                          <a:cs typeface="Aptos"/>
                        </a:rPr>
                        <a:t>Change</a:t>
                      </a:r>
                    </a:p>
                  </a:txBody>
                  <a:tcPr marL="91440" marR="91440" marT="45720" marB="45720">
                    <a:solidFill>
                      <a:srgbClr val="2ED3C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0A2032"/>
                          </a:solidFill>
                          <a:latin typeface="Aptos"/>
                          <a:ea typeface="Aptos"/>
                          <a:cs typeface="Aptos"/>
                        </a:rPr>
                        <a:t>Range</a:t>
                      </a:r>
                    </a:p>
                  </a:txBody>
                  <a:tcPr marL="91440" marR="91440" marT="45720" marB="45720">
                    <a:solidFill>
                      <a:srgbClr val="2ED3C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0A2032"/>
                          </a:solidFill>
                          <a:latin typeface="Aptos"/>
                          <a:ea typeface="Aptos"/>
                          <a:cs typeface="Aptos"/>
                        </a:rPr>
                        <a:t>Volatility</a:t>
                      </a:r>
                    </a:p>
                  </a:txBody>
                  <a:tcPr marL="91440" marR="91440" marT="45720" marB="45720">
                    <a:solidFill>
                      <a:srgbClr val="2ED3C6"/>
                    </a:solidFill>
                  </a:tcPr>
                </a:tc>
              </a:tr>
              <a:tr h="781050">
                <a:tc>
                  <a:txBody>
                    <a:bodyPr anchor="ctr"/>
                    <a:lstStyle/>
                    <a:p>
                      <a:pPr algn="ctr"/>
                      <a:r>
                        <a:rPr sz="1425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2022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2.95%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3.88%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+225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262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123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</a:tr>
              <a:tr h="781050">
                <a:tc>
                  <a:txBody>
                    <a:bodyPr anchor="ctr"/>
                    <a:lstStyle/>
                    <a:p>
                      <a:pPr algn="ctr"/>
                      <a:r>
                        <a:rPr sz="1425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2023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3.96%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3.88%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+9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168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119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</a:tr>
              <a:tr h="781050">
                <a:tc>
                  <a:txBody>
                    <a:bodyPr anchor="ctr"/>
                    <a:lstStyle/>
                    <a:p>
                      <a:pPr algn="ctr"/>
                      <a:r>
                        <a:rPr sz="1425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4.21%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4.58%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+63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107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91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</a:tr>
              <a:tr h="781050">
                <a:tc>
                  <a:txBody>
                    <a:bodyPr anchor="ctr"/>
                    <a:lstStyle/>
                    <a:p>
                      <a:pPr algn="ctr"/>
                      <a:r>
                        <a:rPr sz="1425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2025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4.29%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4.18%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F6B5F"/>
                          </a:solidFill>
                          <a:latin typeface="Aptos"/>
                          <a:ea typeface="Aptos"/>
                          <a:cs typeface="Aptos"/>
                        </a:rPr>
                        <a:t>-39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82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0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78 bp</a:t>
                      </a:r>
                    </a:p>
                  </a:txBody>
                  <a:tcPr marL="91440" marR="91440" marT="45720" marB="45720">
                    <a:solidFill>
                      <a:srgbClr val="0D2940"/>
                    </a:solidFill>
                  </a:tcPr>
                </a:tc>
              </a:tr>
              <a:tr h="781050">
                <a:tc>
                  <a:txBody>
                    <a:bodyPr anchor="ctr"/>
                    <a:lstStyle/>
                    <a:p>
                      <a:pPr algn="ctr"/>
                      <a:r>
                        <a:rPr sz="1425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2026 YTD</a:t>
                      </a:r>
                    </a:p>
                  </a:txBody>
                  <a:tcPr marL="91440" marR="91440" marT="45720" marB="45720">
                    <a:solidFill>
                      <a:srgbClr val="1234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4.31%</a:t>
                      </a:r>
                    </a:p>
                  </a:txBody>
                  <a:tcPr marL="91440" marR="91440" marT="45720" marB="45720">
                    <a:solidFill>
                      <a:srgbClr val="1234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4.50%</a:t>
                      </a:r>
                    </a:p>
                  </a:txBody>
                  <a:tcPr marL="91440" marR="91440" marT="45720" marB="45720">
                    <a:solidFill>
                      <a:srgbClr val="1234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+31 bp</a:t>
                      </a:r>
                    </a:p>
                  </a:txBody>
                  <a:tcPr marL="91440" marR="91440" marT="45720" marB="45720">
                    <a:solidFill>
                      <a:srgbClr val="1234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70 bp</a:t>
                      </a:r>
                    </a:p>
                  </a:txBody>
                  <a:tcPr marL="91440" marR="91440" marT="45720" marB="45720">
                    <a:solidFill>
                      <a:srgbClr val="1234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8FBFD"/>
                          </a:solidFill>
                          <a:latin typeface="Aptos"/>
                          <a:ea typeface="Aptos"/>
                          <a:cs typeface="Aptos"/>
                        </a:rPr>
                        <a:t>69 bp</a:t>
                      </a:r>
                    </a:p>
                  </a:txBody>
                  <a:tcPr marL="91440" marR="91440" marT="45720" marB="45720">
                    <a:solidFill>
                      <a:srgbClr val="12344E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7DCC3-3333-4F27-B2E7-E9D12EA0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0"/>
            <a:ext cx="28575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ABA1C-3862-4825-BE44-68DC719E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77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97th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0B347-243D-4278-B631-14706F6C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917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historical percentile of the latest 4.50% yield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30987-0258-4C6B-8675-A04F5277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53500"/>
            <a:ext cx="28575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8A512-1F3D-4223-92A2-18F08CC8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277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374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7A228-B6E7-4B53-824E-23A1DAEB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9917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calendar days in the longest ≥4% run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2024-10-07 to 2025-10-15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C0E26-90D5-465C-9DC0-E7888C0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953500"/>
            <a:ext cx="28575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741C6-F856-49C5-AAFF-78072B52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277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22 bp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E9856-1866-46DD-B7D8-07AB8BF9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9917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bp: 50-observation average above 200-observation average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4.44% vs 4.22%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15C01-9B25-4F8B-B819-C6072632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8237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3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Interpretation: the market has normalized around a high yield level, even as short-window volatility has cooled.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26427-838E-4233-8431-65E44E81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3D3CF-3CE1-4E66-873A-3D58B730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Annual volatility uses daily bp changes × √252. 2026 statistics are year-to-date through the latest CSV observation.</a:t>
            </a:r>
          </a:p>
        </p:txBody>
      </p:sp>
    </p:spTree>
    <p:extLst>
      <p:ext uri="{BB962C8B-B14F-4D97-AF65-F5344CB8AC3E}">
        <p14:creationId xmlns:p14="http://schemas.microsoft.com/office/powerpoint/2010/main" val="1131422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B588E-5343-4CC6-9EC8-BFA1EDFA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8B733-23C7-4A77-B23F-DA976D51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11395-EF73-4230-AABB-78417650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7C049-4F31-4C68-9E60-37E33AF4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12185-3A33-4E44-8507-A4713AE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A50A3-A829-45B6-8A49-A41E1F02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159C2-610B-470D-A375-5F745EE5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DDD6D-E253-414D-9FCE-6450A31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A9BA"/>
                </a:solidFill>
                <a:latin typeface="Aptos"/>
                <a:ea typeface="Aptos"/>
                <a:cs typeface="Aptos"/>
              </a:rPr>
              <a:t>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B8CF2-B7B2-4DEF-A757-39DB8C1E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1695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ED3C6"/>
          </a:solidFill>
          <a:ln xmlns:a="http://schemas.openxmlformats.org/drawingml/2006/main" w="9525">
            <a:solidFill>
              <a:srgbClr val="2ED3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1C389-AFB4-4289-9ACD-81A2942B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81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2032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7BFEE-889A-453A-830A-41227778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066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8C634-E50C-43B9-83F7-A1A77476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9C948-7844-4596-8A1E-6E86F67C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8FBF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BFD"/>
                </a:solidFill>
                <a:latin typeface="Aptos"/>
                <a:ea typeface="Aptos"/>
                <a:cs typeface="Aptos"/>
              </a:rPr>
              <a:t>What the data actually supports.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2ADB7-583C-4B3F-B3FE-1D362AE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Four conclusions survive an independent audit. Cross-country credibility rankings do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62110-BEBC-400B-9F76-2A4BF54B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9144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B3656-967F-488B-8F21-001F5C7B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0A6E2-D9CF-4672-AB1F-44F8B95F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3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D3C6"/>
                </a:solidFill>
                <a:latin typeface="Aptos"/>
                <a:ea typeface="Aptos"/>
                <a:cs typeface="Aptos"/>
              </a:rPr>
              <a:t>STRUCTURAL REPRICING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3DECA-9FB8-4893-9461-835545B1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5295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The post-2020 rise is not a temporary spike: 2024–26 has the highest average yield regime in the sample.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A73AE-D71F-4EF6-92C2-4BD05B7E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9144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1E2E5-B1D8-458D-BA39-2894D8A7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199D3-F962-4246-8A29-76C7A80C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81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B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B34A"/>
                </a:solidFill>
                <a:latin typeface="Aptos"/>
                <a:ea typeface="Aptos"/>
                <a:cs typeface="Aptos"/>
              </a:rPr>
              <a:t>HIGH LEVEL ≠ CRISIS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D147A-6D92-4D08-AE0F-14C259F2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36270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The latest yield is in the 97th percentile, while current volatility is only in the 39th percentile.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756A2-9BC0-4A5F-9C15-793D2FC8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05700"/>
            <a:ext cx="9144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3ABB3-4960-4E27-AAC2-3B375DDA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676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C9093-1623-434F-80CA-88AD917C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791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2022 WAS THE DISLOCATION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82F053-883D-4278-AC05-D620159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7245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2022 had the widest annual range (262 bp) and the highest annualized daily volatility (123 bp).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3628B-2E4B-4FBD-8975-A3678389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15450"/>
            <a:ext cx="9144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0D2940"/>
          </a:solidFill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B53D8-23B2-4556-8580-A76AD704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A90C7-01E1-418B-90FC-36543E91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6012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D2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28B"/>
                </a:solidFill>
                <a:latin typeface="Aptos"/>
                <a:ea typeface="Aptos"/>
                <a:cs typeface="Aptos"/>
              </a:rPr>
              <a:t>PERSISTENCE MATTERS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5AA67D-6973-4DCF-B9BB-311F4B98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8220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D9E7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7F0"/>
                </a:solidFill>
                <a:latin typeface="Aptos"/>
                <a:ea typeface="Aptos"/>
                <a:cs typeface="Aptos"/>
              </a:rPr>
              <a:t>The longest continuous ≥4% run lasted 374 calendar days; the latest yield remains above both 50- and 200-observation averages.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FEE95-790B-4B5E-BBF6-77DE775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231C9-CF33-4744-AA7D-26C24E75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1296650"/>
            <a:ext cx="779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DGS10 alone measures one US market price. It cannot identify causality or rank central-bank credibility without additional inflation, forecast, policy, FX, and cross-country bond data.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2D7414-3F06-43DC-A49C-8FBF13E2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39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8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2786A-5E40-48F5-BB6B-C1DB266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01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9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9BA"/>
                </a:solidFill>
                <a:latin typeface="Aptos"/>
                <a:ea typeface="Aptos"/>
                <a:cs typeface="Aptos"/>
              </a:rPr>
              <a:t>Independent analysis of fred_dgs10.csv only. No hardcoded central-bank scores or external narrative assumptions used.</a:t>
            </a:r>
          </a:p>
        </p:txBody>
      </p:sp>
    </p:spTree>
    <p:extLst>
      <p:ext uri="{BB962C8B-B14F-4D97-AF65-F5344CB8AC3E}">
        <p14:creationId xmlns:p14="http://schemas.microsoft.com/office/powerpoint/2010/main" val="1895206988"/>
      </p:ext>
    </p:extLst>
  </p:cSld>
</p:sld>
</file>

<file path=ppt/theme/theme1.xml><?xml version="1.0" encoding="utf-8"?>
<a:theme xmlns:a="http://schemas.openxmlformats.org/drawingml/2006/main" name="ChatGPT">
  <a:themeElements>
    <a:clrScheme name="FRED Dashboard">
      <a:dk1>
        <a:srgbClr val="071A2B"/>
      </a:dk1>
      <a:lt1>
        <a:srgbClr val="F8FBFD"/>
      </a:lt1>
      <a:dk2>
        <a:srgbClr val="0D2940"/>
      </a:dk2>
      <a:lt2>
        <a:srgbClr val="ECF1F3"/>
      </a:lt2>
      <a:accent1>
        <a:srgbClr val="2ED3C6"/>
      </a:accent1>
      <a:accent2>
        <a:srgbClr val="FF6B5F"/>
      </a:accent2>
      <a:accent3>
        <a:srgbClr val="E7B34A"/>
      </a:accent3>
      <a:accent4>
        <a:srgbClr val="69BDF3"/>
      </a:accent4>
      <a:accent5>
        <a:srgbClr val="62D28B"/>
      </a:accent5>
      <a:accent6>
        <a:srgbClr val="0FA6A0"/>
      </a:accent6>
      <a:hlink>
        <a:srgbClr val="2ED3C6"/>
      </a:hlink>
      <a:folHlink>
        <a:srgbClr val="69BDF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RED Dashbo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2026-06-25T23:07:48.8500000Z</dcterms:created>
  <dcterms:modified xsi:type="dcterms:W3CDTF">2026-06-25T23:07:48.8500000Z</dcterms:modified>
</coreProperties>
</file>