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375d2137eb4ffd" /><Relationship Type="http://schemas.openxmlformats.org/officeDocument/2006/relationships/extended-properties" Target="/docProps/app.xml" Id="R8b3dbd7ff2074f06" /><Relationship Type="http://schemas.openxmlformats.org/officeDocument/2006/relationships/officeDocument" Target="/ppt/presentation.xml" Id="R02f9747b62b948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a4bded504f4b53"/>
  </p:sldMasterIdLst>
  <p:notesMasterIdLst>
    <p:notesMasterId xmlns:r="http://schemas.openxmlformats.org/officeDocument/2006/relationships" r:id="Rd6357c39a927413f"/>
  </p:notesMasterIdLst>
  <p:sldIdLst>
    <p:sldId xmlns:r="http://schemas.openxmlformats.org/officeDocument/2006/relationships" id="256" r:id="R3cb12b46c6244891"/>
    <p:sldId xmlns:r="http://schemas.openxmlformats.org/officeDocument/2006/relationships" id="257" r:id="Rb58141c68759496d"/>
    <p:sldId xmlns:r="http://schemas.openxmlformats.org/officeDocument/2006/relationships" id="258" r:id="R862613dad1184802"/>
    <p:sldId xmlns:r="http://schemas.openxmlformats.org/officeDocument/2006/relationships" id="259" r:id="R5871ba7603a846cd"/>
    <p:sldId xmlns:r="http://schemas.openxmlformats.org/officeDocument/2006/relationships" id="260" r:id="R4bb70f33a37745e2"/>
    <p:sldId xmlns:r="http://schemas.openxmlformats.org/officeDocument/2006/relationships" id="261" r:id="R677c0f3418394551"/>
    <p:sldId xmlns:r="http://schemas.openxmlformats.org/officeDocument/2006/relationships" id="262" r:id="R5314373b9e4147f4"/>
    <p:sldId xmlns:r="http://schemas.openxmlformats.org/officeDocument/2006/relationships" id="263" r:id="R9d316cac363a442a"/>
    <p:sldId xmlns:r="http://schemas.openxmlformats.org/officeDocument/2006/relationships" id="264" r:id="Rabfbdbf3066d4585"/>
    <p:sldId xmlns:r="http://schemas.openxmlformats.org/officeDocument/2006/relationships" id="265" r:id="R431895ebb7aa4644"/>
  </p:sldIdLst>
  <p:sldSz cx="10287000" cy="128587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07f8b60b724072" /><Relationship Type="http://schemas.openxmlformats.org/officeDocument/2006/relationships/slideMaster" Target="/ppt/slideMasters/slideMaster1.xml" Id="Ra2a4bded504f4b53" /><Relationship Type="http://schemas.openxmlformats.org/officeDocument/2006/relationships/notesMaster" Target="/ppt/notesMasters/notesMaster1.xml" Id="Rd6357c39a927413f" /><Relationship Type="http://schemas.openxmlformats.org/officeDocument/2006/relationships/presProps" Target="/ppt/presProps.xml" Id="R4fd14ef132e74057" /><Relationship Type="http://schemas.openxmlformats.org/officeDocument/2006/relationships/tableStyles" Target="/ppt/tableStyles.xml" Id="Rc1fbdaf7fb6e4cb7" /><Relationship Type="http://schemas.openxmlformats.org/officeDocument/2006/relationships/slide" Target="/ppt/slides/slide1.xml" Id="R3cb12b46c6244891" /><Relationship Type="http://schemas.openxmlformats.org/officeDocument/2006/relationships/slide" Target="/ppt/slides/slide2.xml" Id="Rb58141c68759496d" /><Relationship Type="http://schemas.openxmlformats.org/officeDocument/2006/relationships/slide" Target="/ppt/slides/slide3.xml" Id="R862613dad1184802" /><Relationship Type="http://schemas.openxmlformats.org/officeDocument/2006/relationships/slide" Target="/ppt/slides/slide4.xml" Id="R5871ba7603a846cd" /><Relationship Type="http://schemas.openxmlformats.org/officeDocument/2006/relationships/slide" Target="/ppt/slides/slide5.xml" Id="R4bb70f33a37745e2" /><Relationship Type="http://schemas.openxmlformats.org/officeDocument/2006/relationships/slide" Target="/ppt/slides/slide6.xml" Id="R677c0f3418394551" /><Relationship Type="http://schemas.openxmlformats.org/officeDocument/2006/relationships/slide" Target="/ppt/slides/slide7.xml" Id="R5314373b9e4147f4" /><Relationship Type="http://schemas.openxmlformats.org/officeDocument/2006/relationships/slide" Target="/ppt/slides/slide8.xml" Id="R9d316cac363a442a" /><Relationship Type="http://schemas.openxmlformats.org/officeDocument/2006/relationships/slide" Target="/ppt/slides/slide9.xml" Id="Rabfbdbf3066d4585" /><Relationship Type="http://schemas.openxmlformats.org/officeDocument/2006/relationships/slide" Target="/ppt/slides/slide10.xml" Id="R431895ebb7aa46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a6c3cb564142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LinkedIn Analyst Case Study">
      <a:dk1>
        <a:srgbClr val="071B2D"/>
      </a:dk1>
      <a:lt1>
        <a:srgbClr val="FFFFFF"/>
      </a:lt1>
      <a:dk2>
        <a:srgbClr val="0E3049"/>
      </a:dk2>
      <a:lt2>
        <a:srgbClr val="F5F0E6"/>
      </a:lt2>
      <a:accent1>
        <a:srgbClr val="18B7A6"/>
      </a:accent1>
      <a:accent2>
        <a:srgbClr val="F0645A"/>
      </a:accent2>
      <a:accent3>
        <a:srgbClr val="DFAE45"/>
      </a:accent3>
      <a:accent4>
        <a:srgbClr val="64BDEB"/>
      </a:accent4>
      <a:accent5>
        <a:srgbClr val="57BE82"/>
      </a:accent5>
      <a:accent6>
        <a:srgbClr val="087E75"/>
      </a:accent6>
      <a:hlink>
        <a:srgbClr val="18B7A6"/>
      </a:hlink>
      <a:folHlink>
        <a:srgbClr val="64BDE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inkedIn Analyst Case Stud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c4b231c1c14d9e" /><Relationship Type="http://schemas.openxmlformats.org/officeDocument/2006/relationships/notesMaster" Target="/ppt/notesMasters/notesMaster1.xml" Id="R2000d5520fa541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bab0a5fa5d43cf" /><Relationship Type="http://schemas.openxmlformats.org/officeDocument/2006/relationships/notesMaster" Target="/ppt/notesMasters/notesMaster1.xml" Id="Rd5f9339ec3e04d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3340690a2f41a2" /><Relationship Type="http://schemas.openxmlformats.org/officeDocument/2006/relationships/notesMaster" Target="/ppt/notesMasters/notesMaster1.xml" Id="Ra31f6afc68db45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8f474d44fd4604" /><Relationship Type="http://schemas.openxmlformats.org/officeDocument/2006/relationships/notesMaster" Target="/ppt/notesMasters/notesMaster1.xml" Id="R1b1bc486768f43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d7e37d56dd4152" /><Relationship Type="http://schemas.openxmlformats.org/officeDocument/2006/relationships/notesMaster" Target="/ppt/notesMasters/notesMaster1.xml" Id="Rf61aece29d2842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15d318110b4b82" /><Relationship Type="http://schemas.openxmlformats.org/officeDocument/2006/relationships/notesMaster" Target="/ppt/notesMasters/notesMaster1.xml" Id="R7b66c2f5c105487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698992b5cf4fb2" /><Relationship Type="http://schemas.openxmlformats.org/officeDocument/2006/relationships/notesMaster" Target="/ppt/notesMasters/notesMaster1.xml" Id="R395e570d657b41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82dbf2381b4893" /><Relationship Type="http://schemas.openxmlformats.org/officeDocument/2006/relationships/notesMaster" Target="/ppt/notesMasters/notesMaster1.xml" Id="Re102dd0f8ae341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5267e4be8b47db" /><Relationship Type="http://schemas.openxmlformats.org/officeDocument/2006/relationships/notesMaster" Target="/ppt/notesMasters/notesMaster1.xml" Id="R5dae5bec41db4ef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8904be66964d44" /><Relationship Type="http://schemas.openxmlformats.org/officeDocument/2006/relationships/notesMaster" Target="/ppt/notesMasters/notesMaster1.xml" Id="Radeabda726714e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a73fdeddb34e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b9a9ee5ea94c2e" /><Relationship Type="http://schemas.openxmlformats.org/officeDocument/2006/relationships/slideLayout" Target="/ppt/slideLayouts/slideLayout1.xml" Id="Rcba18bef15cf46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a18bef15cf46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LinkedIn Analyst Case Study">
      <a:dk1>
        <a:srgbClr val="071B2D"/>
      </a:dk1>
      <a:lt1>
        <a:srgbClr val="FFFFFF"/>
      </a:lt1>
      <a:dk2>
        <a:srgbClr val="0E3049"/>
      </a:dk2>
      <a:lt2>
        <a:srgbClr val="F5F0E6"/>
      </a:lt2>
      <a:accent1>
        <a:srgbClr val="18B7A6"/>
      </a:accent1>
      <a:accent2>
        <a:srgbClr val="F0645A"/>
      </a:accent2>
      <a:accent3>
        <a:srgbClr val="DFAE45"/>
      </a:accent3>
      <a:accent4>
        <a:srgbClr val="64BDEB"/>
      </a:accent4>
      <a:accent5>
        <a:srgbClr val="57BE82"/>
      </a:accent5>
      <a:accent6>
        <a:srgbClr val="087E75"/>
      </a:accent6>
      <a:hlink>
        <a:srgbClr val="18B7A6"/>
      </a:hlink>
      <a:folHlink>
        <a:srgbClr val="64BDE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inkedIn Analyst Case Stud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efccc2aa0a40e4" /><Relationship Type="http://schemas.openxmlformats.org/officeDocument/2006/relationships/notesSlide" Target="/ppt/notesSlides/notesSlide1.xml" Id="Re3f58deca61445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ecf3d9f7c40cd" /><Relationship Type="http://schemas.openxmlformats.org/officeDocument/2006/relationships/image" Target="/ppt/media/image.png" Id="R1ad6d40eab834621" /><Relationship Type="http://schemas.openxmlformats.org/officeDocument/2006/relationships/image" Target="/ppt/media/image2.png" Id="R5d4067480ee34557" /><Relationship Type="http://schemas.openxmlformats.org/officeDocument/2006/relationships/image" Target="/ppt/media/image3.png" Id="R7152534816664afe" /><Relationship Type="http://schemas.openxmlformats.org/officeDocument/2006/relationships/image" Target="/ppt/media/image4.png" Id="R767ee366bc8641a0" /><Relationship Type="http://schemas.openxmlformats.org/officeDocument/2006/relationships/image" Target="/ppt/media/image5.png" Id="R8915f00f70e94329" /><Relationship Type="http://schemas.openxmlformats.org/officeDocument/2006/relationships/image" Target="/ppt/media/image6.png" Id="R9e0356773fc1494d" /><Relationship Type="http://schemas.openxmlformats.org/officeDocument/2006/relationships/image" Target="/ppt/media/image7.png" Id="Ree066f76ff1e484e" /><Relationship Type="http://schemas.openxmlformats.org/officeDocument/2006/relationships/image" Target="/ppt/media/image8.png" Id="Rde3b6bd38c4d43a2" /><Relationship Type="http://schemas.openxmlformats.org/officeDocument/2006/relationships/image" Target="/ppt/media/image9.png" Id="Rd164e3c6b8e74bc7" /><Relationship Type="http://schemas.openxmlformats.org/officeDocument/2006/relationships/image" Target="/ppt/media/image10.png" Id="Rdbd9ef4baebe4877" /><Relationship Type="http://schemas.openxmlformats.org/officeDocument/2006/relationships/image" Target="/ppt/media/image11.png" Id="R3e30b8cca02d4569" /><Relationship Type="http://schemas.openxmlformats.org/officeDocument/2006/relationships/notesSlide" Target="/ppt/notesSlides/notesSlide2.xml" Id="Rc68c44db98d340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59c10600044e1" /><Relationship Type="http://schemas.openxmlformats.org/officeDocument/2006/relationships/notesSlide" Target="/ppt/notesSlides/notesSlide3.xml" Id="R55d9e7510b4040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16a3066f84ec8" /><Relationship Type="http://schemas.openxmlformats.org/officeDocument/2006/relationships/notesSlide" Target="/ppt/notesSlides/notesSlide4.xml" Id="Ra3101b7264384e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a286171694b55" /><Relationship Type="http://schemas.openxmlformats.org/officeDocument/2006/relationships/notesSlide" Target="/ppt/notesSlides/notesSlide5.xml" Id="Rec7f2ad26e4942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53dba65d8456e" /><Relationship Type="http://schemas.openxmlformats.org/officeDocument/2006/relationships/chart" Target="/ppt/slides/charts/chart1.xml" Id="R7fcfe954bb484d4e" /><Relationship Type="http://schemas.openxmlformats.org/officeDocument/2006/relationships/notesSlide" Target="/ppt/notesSlides/notesSlide6.xml" Id="R8167c8aaaf5a40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10a6d85fb447f" /><Relationship Type="http://schemas.openxmlformats.org/officeDocument/2006/relationships/notesSlide" Target="/ppt/notesSlides/notesSlide7.xml" Id="R6d88d4399e044f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8db6b677147df" /><Relationship Type="http://schemas.openxmlformats.org/officeDocument/2006/relationships/notesSlide" Target="/ppt/notesSlides/notesSlide8.xml" Id="R976cf9ef6a8642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a26c6c03744e3" /><Relationship Type="http://schemas.openxmlformats.org/officeDocument/2006/relationships/notesSlide" Target="/ppt/notesSlides/notesSlide9.xml" Id="R534cf45a62834f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b72d35cdf24eea" /><Relationship Type="http://schemas.openxmlformats.org/officeDocument/2006/relationships/notesSlide" Target="/ppt/notesSlides/notesSlide10.xml" Id="Ra55a0890529f4668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lineChart>
        <c:grouping val="standard"/>
        <c:ser>
          <c:idx val="0"/>
          <c:order val="0"/>
          <c:tx>
            <c:v>Annual average yield</c:v>
          </c:tx>
          <c:spPr>
            <a:ln xmlns:a="http://schemas.openxmlformats.org/drawingml/2006/main" w="47625">
              <a:solidFill>
                <a:srgbClr val="087E75"/>
              </a:solidFill>
              <a:prstDash val="solid"/>
            </a:ln>
          </c:spPr>
          <c:marker>
            <c:symbol val="circle"/>
            <c:size val="8"/>
          </c:marke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numLit>
              <c:formatCode>General</c:formatCode>
              <c:ptCount val="17"/>
              <c:pt idx="0">
                <c:v>2010</c:v>
              </c:pt>
              <c:pt idx="1">
                <c:v>2011</c:v>
              </c:pt>
              <c:pt idx="2">
                <c:v>2012</c:v>
              </c:pt>
              <c:pt idx="3">
                <c:v>2013</c:v>
              </c:pt>
              <c:pt idx="4">
                <c:v>2014</c:v>
              </c:pt>
              <c:pt idx="5">
                <c:v>2015</c:v>
              </c:pt>
              <c:pt idx="6">
                <c:v>2016</c:v>
              </c:pt>
              <c:pt idx="7">
                <c:v>2017</c:v>
              </c:pt>
              <c:pt idx="8">
                <c:v>2018</c:v>
              </c:pt>
              <c:pt idx="9">
                <c:v>2019</c:v>
              </c:pt>
              <c:pt idx="10">
                <c:v>2020</c:v>
              </c:pt>
              <c:pt idx="11">
                <c:v>2021</c:v>
              </c:pt>
              <c:pt idx="12">
                <c:v>2022</c:v>
              </c:pt>
              <c:pt idx="13">
                <c:v>2023</c:v>
              </c:pt>
              <c:pt idx="14">
                <c:v>2024</c:v>
              </c:pt>
              <c:pt idx="15">
                <c:v>2025</c:v>
              </c:pt>
              <c:pt idx="16">
                <c:v>2026</c:v>
              </c:pt>
            </c:numLit>
          </c:cat>
          <c:val>
            <c:numLit>
              <c:formatCode>0.0</c:formatCode>
              <c:ptCount val="17"/>
              <c:pt idx="0">
                <c:v>3.215</c:v>
              </c:pt>
              <c:pt idx="1">
                <c:v>2.782</c:v>
              </c:pt>
              <c:pt idx="2">
                <c:v>1.803</c:v>
              </c:pt>
              <c:pt idx="3">
                <c:v>2.35</c:v>
              </c:pt>
              <c:pt idx="4">
                <c:v>2.54</c:v>
              </c:pt>
              <c:pt idx="5">
                <c:v>2.138</c:v>
              </c:pt>
              <c:pt idx="6">
                <c:v>1.837</c:v>
              </c:pt>
              <c:pt idx="7">
                <c:v>2.329</c:v>
              </c:pt>
              <c:pt idx="8">
                <c:v>2.911</c:v>
              </c:pt>
              <c:pt idx="9">
                <c:v>2.141</c:v>
              </c:pt>
              <c:pt idx="10">
                <c:v>0.889</c:v>
              </c:pt>
              <c:pt idx="11">
                <c:v>1.447</c:v>
              </c:pt>
              <c:pt idx="12">
                <c:v>2.951</c:v>
              </c:pt>
              <c:pt idx="13">
                <c:v>3.959</c:v>
              </c:pt>
              <c:pt idx="14">
                <c:v>4.208</c:v>
              </c:pt>
              <c:pt idx="15">
                <c:v>4.293</c:v>
              </c:pt>
              <c:pt idx="16">
                <c:v>4.308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FCBD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890A1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  <c:max val="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4DEE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7890A1"/>
                    </a:solidFill>
                  </a:rPr>
                  <a:t>Yield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7890A1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890A1"/>
                </a:solidFill>
              </a:defRPr>
            </a:pPr>
          </a:p>
        </c:txPr>
        <c:crossAx val="48650112"/>
        <c:crosses val="autoZero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0BCEAE-6BE2-49D1-AC97-4E1DE90D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A36BA-4C30-4B0D-B9C7-8A26DE83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BD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BDEB"/>
                </a:solidFill>
                <a:latin typeface="Aptos"/>
                <a:ea typeface="Aptos"/>
                <a:cs typeface="Aptos"/>
              </a:rPr>
              <a:t>ANURAG SINGH  •  BUSINESS ANALYST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C1F95-32F5-45D5-991E-929D50BE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53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CASE STUDY  /  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99134A-A83B-46CF-86D8-AFD72E04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B6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82995-9520-4331-878C-D507EC87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 audited a global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central-bank ranking.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4FE3F-7272-42EC-A5B1-C1619ECC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809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7E5EE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D7E5EE"/>
                </a:solidFill>
                <a:latin typeface="Aptos"/>
                <a:ea typeface="Aptos"/>
                <a:cs typeface="Aptos"/>
              </a:rPr>
              <a:t>The biggest finding was not the ranking.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39510-FDEC-4EA2-9A33-A9A2BF4D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9625"/>
            <a:ext cx="885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It was the data problem behind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41946F-24EF-4404-B19D-8B75911A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DFAE4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FDB624-5600-4141-B5DF-913F68A9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293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DFAE45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FAE45"/>
                </a:solidFill>
                <a:latin typeface="Aptos"/>
                <a:ea typeface="Aptos"/>
                <a:cs typeface="Aptos"/>
              </a:rPr>
              <a:t>4,298 rows ≠ 10 central banks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CBC0F-70A6-46EF-918F-930C7281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0"/>
            <a:ext cx="790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0">
                <a:solidFill>
                  <a:srgbClr val="D7E5EE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D7E5EE"/>
                </a:solidFill>
                <a:latin typeface="Aptos"/>
                <a:ea typeface="Aptos"/>
                <a:cs typeface="Aptos"/>
              </a:rPr>
              <a:t>A business-analysis case study in data provenance, market research, and executive storytelling.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15AF0-1554-4B19-8634-6ACDF3B0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239250"/>
            <a:ext cx="914400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0B263B"/>
          </a:solidFill>
          <a:ln xmlns:a="http://schemas.openxmlformats.org/drawingml/2006/main" w="9525">
            <a:solidFill>
              <a:srgbClr val="2B4B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A07FF-C8CD-4FF1-8338-A94AB559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6393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B7A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B7A6"/>
                </a:solidFill>
                <a:latin typeface="Aptos"/>
                <a:ea typeface="Aptos"/>
                <a:cs typeface="Aptos"/>
              </a:rPr>
              <a:t>MBA  •  B.COM  •  BUSINESS ANALYSIS  •  RESEARCH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9D48B4-FCDD-4DAD-9C65-F9AD78CF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144125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 found, what the data actually says, and how I would rebuild the product correctly.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C442AC-796C-4C8B-9D99-1A52571A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993171-25A2-4063-9B40-2739C51D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B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96615D-582E-43E2-A1A6-9EEFCC76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B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1D9440-9A38-47EC-B034-DD2ADBB8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B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3C0BEF-F57A-4005-A9C4-53397B85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B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6DDD9E-080A-4AFE-80F0-C307036A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B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6165F9-1705-40D7-8D15-9601A472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B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36F4B8-FC4B-4DFA-AA37-D89DC5D5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B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E5928-1856-4C28-86FA-4F03A410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B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BB9B2A-EC7D-4500-9B1D-7FDE165C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B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A0DB93-5A5A-45B1-A615-3784942B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20300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D7E5E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7E5EE"/>
                </a:solidFill>
                <a:latin typeface="Aptos"/>
                <a:ea typeface="Aptos"/>
                <a:cs typeface="Aptos"/>
              </a:rPr>
              <a:t>SWIPE  →</a:t>
            </a:r>
          </a:p>
        </p:txBody>
      </p:sp>
    </p:spTree>
    <p:extLst>
      <p:ext uri="{BB962C8B-B14F-4D97-AF65-F5344CB8AC3E}">
        <p14:creationId xmlns:p14="http://schemas.microsoft.com/office/powerpoint/2010/main" val="20441386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E2967A-E131-4DC7-9F84-9F211CAB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E75"/>
                </a:solidFill>
                <a:latin typeface="Aptos"/>
                <a:ea typeface="Aptos"/>
                <a:cs typeface="Aptos"/>
              </a:rPr>
              <a:t>ANURAG SINGH  •  BUSINESS ANALYST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A7C22-9EA4-4829-921C-E2C66324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53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83C"/>
                </a:solidFill>
                <a:latin typeface="Aptos"/>
                <a:ea typeface="Aptos"/>
                <a:cs typeface="Aptos"/>
              </a:rPr>
              <a:t>RESEARCH UNIVERSE  /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4A2781-9E50-42A4-B4DD-876329CE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EFA975-C7D2-414F-AC1A-B14F526C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914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750" b="1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The ambition was global.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750" b="1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The dataset was not.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31509-2FBC-43B2-8DFA-BB043316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7890A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7890A1"/>
                </a:solidFill>
                <a:latin typeface="Aptos"/>
                <a:ea typeface="Aptos"/>
                <a:cs typeface="Aptos"/>
              </a:rPr>
              <a:t>The intended research universe covered ten major monetary authorities.</a:t>
            </a:r>
          </a:p>
        </p:txBody>
      </p:sp>
      <p:pic>
        <p:nvPicPr>
          <p:cNvPr id="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6d40eab834621"/>
          <a:stretch xmlns:a="http://schemas.openxmlformats.org/drawingml/2006/main"/>
        </p:blipFill>
        <p:spPr>
          <a:xfrm xmlns:a="http://schemas.openxmlformats.org/drawingml/2006/main">
            <a:off x="666750" y="3333750"/>
            <a:ext cx="8953500" cy="4476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B05E4-55E9-4AD2-A9D3-07AC6224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457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5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E2F03-A72F-48E3-B3D1-CA2071EB1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524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4D0145-2E37-4F9A-9D91-912910BD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76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5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BAB199-3833-49B9-9EF3-FC049CD6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143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CAA19B-4F46-4A03-915D-46F4D032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60769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5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D05A7-699F-45FA-B306-817AE260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61436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E4AE11-6DA1-4BCD-96A4-D309A781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048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5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5C814A-22E6-499D-8819-0411052E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1148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41E9E2-5418-4EB7-8350-02844E35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248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5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C433DF-7C19-41B2-B2EA-1683957A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3148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42D594-BEF0-4263-B4F5-6DBA5846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505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5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56AE2B-E40C-494F-A088-B9DFFE3C3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5720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0D7B75-3EFD-4F54-A813-3689DA3A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244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5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5FE8E9-30E8-4AEE-837B-FF699857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911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6C2E4F-E79F-486F-BF8E-30F0DEA0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457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5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FEA100-0CA0-4277-A84C-923266E77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52437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E269A5-1DD7-4757-8E5F-E5AAA989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14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5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394168-6564-43F8-8DAB-2BC3E0D8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815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351040-A4FD-4A98-BB63-EC7A4472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505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5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E0532D-E1E1-431F-ABCE-3D95B062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57225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BF455B-717F-4321-8BF2-736FBA9B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0"/>
            <a:ext cx="16954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E1F6CF-1DBE-49D6-9F81-16BB45C3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724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pic>
        <p:nvPicPr>
          <p:cNvPr id="1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4067480ee34557"/>
          <a:stretch xmlns:a="http://schemas.openxmlformats.org/drawingml/2006/main"/>
        </p:blipFill>
        <p:spPr>
          <a:xfrm xmlns:a="http://schemas.openxmlformats.org/drawingml/2006/main">
            <a:off x="762000" y="8218714"/>
            <a:ext cx="1314450" cy="688521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A18C89-03C8-4E5E-9681-9D681526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0487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83C"/>
                </a:solidFill>
                <a:latin typeface="Aptos"/>
                <a:ea typeface="Aptos"/>
                <a:cs typeface="Aptos"/>
              </a:rPr>
              <a:t>FED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4DD7FC-5282-4C7C-93C2-D740E8A0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8096250"/>
            <a:ext cx="16954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89DF8C-B854-4C0F-B46E-8439E382E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81724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52534816664afe"/>
          <a:stretch xmlns:a="http://schemas.openxmlformats.org/drawingml/2006/main"/>
        </p:blipFill>
        <p:spPr>
          <a:xfrm xmlns:a="http://schemas.openxmlformats.org/drawingml/2006/main">
            <a:off x="2628900" y="8218714"/>
            <a:ext cx="1314450" cy="688521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BF8483-16C3-4C0F-A796-02FEEA73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90487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83C"/>
                </a:solidFill>
                <a:latin typeface="Aptos"/>
                <a:ea typeface="Aptos"/>
                <a:cs typeface="Aptos"/>
              </a:rPr>
              <a:t>BOC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C0F173-FDD5-4FD9-B774-135041B1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8096250"/>
            <a:ext cx="16954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8B6E76-498E-4FEA-B721-BAD6E843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81724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pic>
        <p:nvPicPr>
          <p:cNvPr id="1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7ee366bc8641a0"/>
          <a:stretch xmlns:a="http://schemas.openxmlformats.org/drawingml/2006/main"/>
        </p:blipFill>
        <p:spPr>
          <a:xfrm xmlns:a="http://schemas.openxmlformats.org/drawingml/2006/main">
            <a:off x="4495800" y="8218714"/>
            <a:ext cx="1314450" cy="688521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9A764D-F30E-4F87-A317-328A0BDC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90487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83C"/>
                </a:solidFill>
                <a:latin typeface="Aptos"/>
                <a:ea typeface="Aptos"/>
                <a:cs typeface="Aptos"/>
              </a:rPr>
              <a:t>BCB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C127AB-4BFD-4D4E-A332-CE1B65611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8096250"/>
            <a:ext cx="16954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B6452F-032E-4876-80DD-CB73A10E8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81724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15f00f70e94329"/>
          <a:stretch xmlns:a="http://schemas.openxmlformats.org/drawingml/2006/main"/>
        </p:blipFill>
        <p:spPr>
          <a:xfrm xmlns:a="http://schemas.openxmlformats.org/drawingml/2006/main">
            <a:off x="6362700" y="8218714"/>
            <a:ext cx="1314450" cy="688521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F38C67B-0136-41C1-B65B-9261012F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90487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83C"/>
                </a:solidFill>
                <a:latin typeface="Aptos"/>
                <a:ea typeface="Aptos"/>
                <a:cs typeface="Aptos"/>
              </a:rPr>
              <a:t>BOE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A95DA3A-3D31-40D6-9A0C-F91058C9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8096250"/>
            <a:ext cx="16954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4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0AFD25-6913-48A4-AA69-AE985EB2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81724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pic>
        <p:nvPicPr>
          <p:cNvPr id="1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0356773fc1494d"/>
          <a:stretch xmlns:a="http://schemas.openxmlformats.org/drawingml/2006/main"/>
        </p:blipFill>
        <p:spPr>
          <a:xfrm xmlns:a="http://schemas.openxmlformats.org/drawingml/2006/main">
            <a:off x="8229600" y="8218714"/>
            <a:ext cx="1314450" cy="688521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B23B5B-203B-4560-9F84-0D82556E0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90487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83C"/>
                </a:solidFill>
                <a:latin typeface="Aptos"/>
                <a:ea typeface="Aptos"/>
                <a:cs typeface="Aptos"/>
              </a:rPr>
              <a:t>ECB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D93264A-B7A3-4475-B646-56958AE4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620250"/>
            <a:ext cx="16954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715193-0448-4128-85E2-C753F9CB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6964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pic>
        <p:nvPicPr>
          <p:cNvPr id="1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66f76ff1e484e"/>
          <a:stretch xmlns:a="http://schemas.openxmlformats.org/drawingml/2006/main"/>
        </p:blipFill>
        <p:spPr>
          <a:xfrm xmlns:a="http://schemas.openxmlformats.org/drawingml/2006/main">
            <a:off x="762000" y="9742714"/>
            <a:ext cx="1314450" cy="688521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4C90335-6AE4-4BCC-9133-A2A8C817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5727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83C"/>
                </a:solidFill>
                <a:latin typeface="Aptos"/>
                <a:ea typeface="Aptos"/>
                <a:cs typeface="Aptos"/>
              </a:rPr>
              <a:t>SNB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5A2681A-485E-4004-A099-5AAACC24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9620250"/>
            <a:ext cx="16954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08DAB86-DD11-4610-8625-0D0F91CE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96964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3b6bd38c4d43a2"/>
          <a:stretch xmlns:a="http://schemas.openxmlformats.org/drawingml/2006/main"/>
        </p:blipFill>
        <p:spPr>
          <a:xfrm xmlns:a="http://schemas.openxmlformats.org/drawingml/2006/main">
            <a:off x="2628900" y="9742714"/>
            <a:ext cx="1314450" cy="688521"/>
          </a:xfrm>
          <a:prstGeom xmlns:a="http://schemas.openxmlformats.org/drawingml/2006/main" prst="rect">
            <a:avLst/>
          </a:prstGeom>
        </p:spPr>
      </p:pic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1EFBC8F-71C1-404F-B3DC-1796E377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05727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83C"/>
                </a:solidFill>
                <a:latin typeface="Aptos"/>
                <a:ea typeface="Aptos"/>
                <a:cs typeface="Aptos"/>
              </a:rPr>
              <a:t>RBI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AF583EA-F670-45B1-85F1-DC653FB0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9620250"/>
            <a:ext cx="16954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4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3789996-2799-4CD8-820A-8FC8B915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96964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pic>
        <p:nvPicPr>
          <p:cNvPr id="1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64e3c6b8e74bc7"/>
          <a:stretch xmlns:a="http://schemas.openxmlformats.org/drawingml/2006/main"/>
        </p:blipFill>
        <p:spPr>
          <a:xfrm xmlns:a="http://schemas.openxmlformats.org/drawingml/2006/main">
            <a:off x="4495800" y="9742714"/>
            <a:ext cx="1314450" cy="688521"/>
          </a:xfrm>
          <a:prstGeom xmlns:a="http://schemas.openxmlformats.org/drawingml/2006/main" prst="rect">
            <a:avLst/>
          </a:prstGeom>
        </p:spPr>
      </p:pic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4FCF6D7-AF8C-4CAF-86A8-1C437A28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05727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83C"/>
                </a:solidFill>
                <a:latin typeface="Aptos"/>
                <a:ea typeface="Aptos"/>
                <a:cs typeface="Aptos"/>
              </a:rPr>
              <a:t>PBOC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BD06C3D-A395-47B2-925A-E6003A33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9620250"/>
            <a:ext cx="16954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4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D3BDFC3-80FE-45F0-89D4-A1572EC6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96964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pic>
        <p:nvPicPr>
          <p:cNvPr id="1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9ef4baebe4877"/>
          <a:stretch xmlns:a="http://schemas.openxmlformats.org/drawingml/2006/main"/>
        </p:blipFill>
        <p:spPr>
          <a:xfrm xmlns:a="http://schemas.openxmlformats.org/drawingml/2006/main">
            <a:off x="6362700" y="9742714"/>
            <a:ext cx="1314450" cy="688521"/>
          </a:xfrm>
          <a:prstGeom xmlns:a="http://schemas.openxmlformats.org/drawingml/2006/main" prst="rect">
            <a:avLst/>
          </a:prstGeom>
        </p:spPr>
      </p:pic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3105C78-A5AB-4649-B22B-0E8F78C36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05727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83C"/>
                </a:solidFill>
                <a:latin typeface="Aptos"/>
                <a:ea typeface="Aptos"/>
                <a:cs typeface="Aptos"/>
              </a:rPr>
              <a:t>BOJ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68A1A99-5DEB-441C-9130-FF5CA13E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9620250"/>
            <a:ext cx="169545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FE4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DBF0A22-C6EE-452B-8C28-4FAC1A8A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696450"/>
            <a:ext cx="209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pic>
        <p:nvPicPr>
          <p:cNvPr id="1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30b8cca02d4569"/>
          <a:stretch xmlns:a="http://schemas.openxmlformats.org/drawingml/2006/main"/>
        </p:blipFill>
        <p:spPr>
          <a:xfrm xmlns:a="http://schemas.openxmlformats.org/drawingml/2006/main">
            <a:off x="8229600" y="9742714"/>
            <a:ext cx="1314450" cy="688521"/>
          </a:xfrm>
          <a:prstGeom xmlns:a="http://schemas.openxmlformats.org/drawingml/2006/main" prst="rect">
            <a:avLst/>
          </a:prstGeom>
        </p:spPr>
      </p:pic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A793FF8-2B03-475E-B53A-7629EF9D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05727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83C"/>
                </a:solidFill>
                <a:latin typeface="Aptos"/>
                <a:ea typeface="Aptos"/>
                <a:cs typeface="Aptos"/>
              </a:rPr>
              <a:t>RBA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C26B045-285B-4CCB-9F60-1F068878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239500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87E7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87E75"/>
                </a:solidFill>
                <a:latin typeface="Aptos"/>
                <a:ea typeface="Aptos"/>
                <a:cs typeface="Aptos"/>
              </a:rPr>
              <a:t>Research question: can one comparable credibility score be built across these institutions?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6542A87-1A64-446E-86D3-1083C27A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71575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2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28E"/>
                </a:solidFill>
                <a:latin typeface="Aptos"/>
                <a:ea typeface="Aptos"/>
                <a:cs typeface="Aptos"/>
              </a:rPr>
              <a:t>Logos identify the intended research universe; they are not presented as a verified ranking.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C73FA58-DA42-409F-901C-6B545260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122AC67-8D2D-450D-AB1A-C5486762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50DE720-34AB-4A16-832A-314EF365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9F6065A-A812-4507-987B-A32F3782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E316344-E332-4D19-8F8A-8C02DAB5F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C4C5631-C34B-4612-B8E2-85377E3E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E2ABB36-4FCE-444B-8628-44F610C7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A59607C-ACEA-4A3B-AC5D-579F7332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96922B1-EB28-4D5B-985E-E2407022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3B7E0D7-E70D-46FF-8DF4-40807600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715C121-F619-4E21-81D0-0166E4EC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20300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890A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890A1"/>
                </a:solidFill>
                <a:latin typeface="Aptos"/>
                <a:ea typeface="Aptos"/>
                <a:cs typeface="Aptos"/>
              </a:rPr>
              <a:t>SWIPE  →</a:t>
            </a:r>
          </a:p>
        </p:txBody>
      </p:sp>
    </p:spTree>
    <p:extLst>
      <p:ext uri="{BB962C8B-B14F-4D97-AF65-F5344CB8AC3E}">
        <p14:creationId xmlns:p14="http://schemas.microsoft.com/office/powerpoint/2010/main" val="1659879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0DCFB1-2226-45C4-B036-F04F1CF6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BD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BDEB"/>
                </a:solidFill>
                <a:latin typeface="Aptos"/>
                <a:ea typeface="Aptos"/>
                <a:cs typeface="Aptos"/>
              </a:rPr>
              <a:t>ANURAG SINGH  •  BUSINESS ANALYST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0DCB8-946C-4964-B3C4-8141FF1E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53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ROOT-CAUSE ANALYSIS  /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5F7A7B-316D-49D8-AAE8-9A91954E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B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6487B-3C77-4F48-941C-137BE018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914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model looked analytical.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scores were hardcoded.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199C8B-3532-4422-BFDD-E3E022CB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D7E5E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7E5EE"/>
                </a:solidFill>
                <a:latin typeface="Aptos"/>
                <a:ea typeface="Aptos"/>
                <a:cs typeface="Aptos"/>
              </a:rPr>
              <a:t>A visual can be polished and still fail the most basic traceability test.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FE2723-E6B7-4F82-AAB2-2F3565849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5715000" cy="5715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091521"/>
          </a:solidFill>
          <a:ln xmlns:a="http://schemas.openxmlformats.org/drawingml/2006/main" w="9525">
            <a:solidFill>
              <a:srgbClr val="344B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66A46-5FE8-4BC6-95E3-1732F6D3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BD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BDEB"/>
                </a:solidFill>
                <a:latin typeface="Aptos"/>
                <a:ea typeface="Aptos"/>
                <a:cs typeface="Aptos"/>
              </a:rPr>
              <a:t>SOURCE CODE / fetch_authentic_data.py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8D4A1C-AC66-4E34-B0DF-CCD3BB55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5143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B9D3E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9D3E2"/>
                </a:solidFill>
                <a:latin typeface="Aptos"/>
                <a:ea typeface="Aptos"/>
                <a:cs typeface="Aptos"/>
              </a:rPr>
              <a:t># Using exact values to reproduce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B9D3E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9D3E2"/>
                </a:solidFill>
                <a:latin typeface="Aptos"/>
                <a:ea typeface="Aptos"/>
                <a:cs typeface="Aptos"/>
              </a:rPr>
              <a:t># the user's requested baseline rankings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B9D3E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9D3E2"/>
                </a:solidFill>
                <a:latin typeface="Aptos"/>
                <a:ea typeface="Aptos"/>
                <a:cs typeface="Aptos"/>
              </a:rPr>
              <a:t>data = {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B9D3E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9D3E2"/>
                </a:solidFill>
                <a:latin typeface="Aptos"/>
                <a:ea typeface="Aptos"/>
                <a:cs typeface="Aptos"/>
              </a:rPr>
              <a:t>  'SNB': [29.4, 18.0, 16.5, 12.5, 13.0],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B9D3E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9D3E2"/>
                </a:solidFill>
                <a:latin typeface="Aptos"/>
                <a:ea typeface="Aptos"/>
                <a:cs typeface="Aptos"/>
              </a:rPr>
              <a:t>  'FED': [25.2, 18.5, 15.0, 12.0, 14.5],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B9D3E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9D3E2"/>
                </a:solidFill>
                <a:latin typeface="Aptos"/>
                <a:ea typeface="Aptos"/>
                <a:cs typeface="Aptos"/>
              </a:rPr>
              <a:t>  ...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B9D3E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9D3E2"/>
                </a:solidFill>
                <a:latin typeface="Aptos"/>
                <a:ea typeface="Aptos"/>
                <a:cs typeface="Aptos"/>
              </a:rPr>
              <a:t>}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B9D3E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9D3E2"/>
                </a:solidFill>
                <a:latin typeface="Aptos"/>
                <a:ea typeface="Aptos"/>
                <a:cs typeface="Aptos"/>
              </a:rPr>
              <a:t>df.to_csv('authentic_cbci_scores.csv')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2CABF-C275-41BB-966B-47E1A0B2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52387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AE2DE"/>
          </a:solidFill>
          <a:ln xmlns:a="http://schemas.openxmlformats.org/drawingml/2006/main" w="9525">
            <a:solidFill>
              <a:srgbClr val="F064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2563D2-833F-4102-99FA-E545E2BA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485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9E352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9E352E"/>
                </a:solidFill>
                <a:latin typeface="Aptos"/>
                <a:ea typeface="Aptos"/>
                <a:cs typeface="Aptos"/>
              </a:rPr>
              <a:t>“reproduce the user's requested baseline rankings”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B7C0E-FB60-4F01-8F2E-30375AA4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42962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This is circular logic: the desired output became the input.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EFDB09-755F-461B-BB23-F0C0A991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5762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BD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BDEB"/>
                </a:solidFill>
                <a:latin typeface="Aptos"/>
                <a:ea typeface="Aptos"/>
                <a:cs typeface="Aptos"/>
              </a:rPr>
              <a:t>WHAT THE CSV ACTUALLY CONTAINS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BDC6A-CAD5-424E-BC06-740A7799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767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B7A6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8B7A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FD21CD-157A-4C79-AB34-EE177349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958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market series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5A73F5-8EA5-4B9C-AC19-D1D0B04E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10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890A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890A1"/>
                </a:solidFill>
                <a:latin typeface="Aptos"/>
                <a:ea typeface="Aptos"/>
                <a:cs typeface="Aptos"/>
              </a:rPr>
              <a:t>US 10Y Treasury yield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0EA1AE-7C67-4C88-91C1-03CDD008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2197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B6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EEC422-0CBA-4AB7-8ADD-1D1DF0A7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4292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F72FA0-CBCC-44AF-BFF1-D1FFB070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483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country panels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104901-A0A3-4559-BD8D-7B97CF2D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6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890A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890A1"/>
                </a:solidFill>
                <a:latin typeface="Aptos"/>
                <a:ea typeface="Aptos"/>
                <a:cs typeface="Aptos"/>
              </a:rPr>
              <a:t>No cross-bank coverage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B380E6-6589-4B6A-B521-B87AA485E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1722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B6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2EA5EE-C9C3-471C-A45D-152E0452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63817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660481-D55B-4551-848A-FE76952F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4008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inflation series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1E300F-CE4C-4331-8F96-90E38AB5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6715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890A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890A1"/>
                </a:solidFill>
                <a:latin typeface="Aptos"/>
                <a:ea typeface="Aptos"/>
                <a:cs typeface="Aptos"/>
              </a:rPr>
              <a:t>No mandate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21EF35-9B3A-4027-8147-A0AA0436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71247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B6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B4BF52-A9D3-4754-8254-69766927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73342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D49694-4E74-4174-B10A-F8D269E5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73533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policy statements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E54A0B-55EA-4844-B2EF-804458883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7667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890A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890A1"/>
                </a:solidFill>
                <a:latin typeface="Aptos"/>
                <a:ea typeface="Aptos"/>
                <a:cs typeface="Aptos"/>
              </a:rPr>
              <a:t>No NLP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140099-E6B9-4B6B-8FC5-64AB37AF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80772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B6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7E56FA-DCB8-4A8D-B422-5D1FC2F6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8286750"/>
            <a:ext cx="57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FE71BB-BA7E-4420-92F3-C2AF6A3F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83058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FX series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487AD7-F973-4A17-990D-AF2B715B7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86201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890A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890A1"/>
                </a:solidFill>
                <a:latin typeface="Aptos"/>
                <a:ea typeface="Aptos"/>
                <a:cs typeface="Aptos"/>
              </a:rPr>
              <a:t>No currency evidence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A0F58E9-0D23-4B88-A94E-2175588D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9029700"/>
            <a:ext cx="280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B6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6099D4-F13B-495F-84C2-504B4D06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9667875"/>
            <a:ext cx="304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2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950" b="1">
                <a:solidFill>
                  <a:srgbClr val="DFAE4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DFAE45"/>
                </a:solidFill>
                <a:latin typeface="Aptos"/>
                <a:ea typeface="Aptos"/>
                <a:cs typeface="Aptos"/>
              </a:rPr>
              <a:t>BA lesson: validate the data lineage before debating the dashboard.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0EC2FD-20F3-4539-AC16-E68CF6ED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71575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90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90A1"/>
                </a:solidFill>
                <a:latin typeface="Aptos"/>
                <a:ea typeface="Aptos"/>
                <a:cs typeface="Aptos"/>
              </a:rPr>
              <a:t>Evidence: project source code and local CSV audit. No cross-country ranking is used in this carousel.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E9BC2A-5C52-462D-923B-B8F5866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336D2A-7CC1-44A6-BBA7-4910C3F3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4D7F3B-B932-4EB7-A22C-93342F90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7979AC-4C2F-4E44-892A-CE6ED882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B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20CE87-9E37-4CF6-BEDB-6D174C05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B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AE3138-2B94-40A5-A920-E09C5B186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B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BCFCC22-D086-4D21-9EE3-73ABA868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B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7A95F17-BCFC-4715-9A7E-99B345E6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B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08587C-4B4D-43D1-8ED0-D5D7A4FA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B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79C219-6285-410D-88CA-5DD37EFF7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B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39EDE32-0BB6-42FD-93DD-029D2DE7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20300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D7E5E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7E5EE"/>
                </a:solidFill>
                <a:latin typeface="Aptos"/>
                <a:ea typeface="Aptos"/>
                <a:cs typeface="Aptos"/>
              </a:rPr>
              <a:t>SWIPE  →</a:t>
            </a:r>
          </a:p>
        </p:txBody>
      </p:sp>
    </p:spTree>
    <p:extLst>
      <p:ext uri="{BB962C8B-B14F-4D97-AF65-F5344CB8AC3E}">
        <p14:creationId xmlns:p14="http://schemas.microsoft.com/office/powerpoint/2010/main" val="3451084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901540-EAB9-431B-9A7F-CEB85967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E75"/>
                </a:solidFill>
                <a:latin typeface="Aptos"/>
                <a:ea typeface="Aptos"/>
                <a:cs typeface="Aptos"/>
              </a:rPr>
              <a:t>ANURAG SINGH  •  BUSINESS ANALYST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960AF-2EF7-4F19-8622-A20C14E61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53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83C"/>
                </a:solidFill>
                <a:latin typeface="Aptos"/>
                <a:ea typeface="Aptos"/>
                <a:cs typeface="Aptos"/>
              </a:rPr>
              <a:t>BUSINESS ANALYSIS  / 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0344E-5347-4C01-9658-5EDB0F3E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64FB3-1C24-46B6-8982-BE57CB87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914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750" b="1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My audit framework: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750" b="1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traceability before visualization.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AB3A9-9ED0-471D-BA41-5211AB5A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7890A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7890A1"/>
                </a:solidFill>
                <a:latin typeface="Aptos"/>
                <a:ea typeface="Aptos"/>
                <a:cs typeface="Aptos"/>
              </a:rPr>
              <a:t>Five questions turn an attractive model into a defensible decision product.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64FE1-5989-4F74-8314-25D582DE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723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7E75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087E7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FB5D0-0597-4FCD-82F9-AF641F05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733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E9BDA-9454-49D8-BE47-6B119C05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338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283C"/>
                </a:solidFill>
                <a:latin typeface="Aptos"/>
                <a:ea typeface="Aptos"/>
                <a:cs typeface="Aptos"/>
              </a:rPr>
              <a:t>What decision will this model support?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4E32F1-5732-48CF-81FC-4178858E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1475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DF3EF"/>
          </a:solidFill>
          <a:ln xmlns:a="http://schemas.openxmlformats.org/drawingml/2006/main" w="9525">
            <a:solidFill>
              <a:srgbClr val="CED9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038A33-C2D8-492E-8F9A-46AC55F8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004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7E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E75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8A4D4-07E1-4AEA-A99A-BBD788BB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FAD145-8A47-4565-8654-A161916D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723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7E75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087E7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4D8507-46F4-467A-B0B8-DE9199B0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1625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5A6F34-A3A0-4308-BAB7-695DEC95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625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283C"/>
                </a:solidFill>
                <a:latin typeface="Aptos"/>
                <a:ea typeface="Aptos"/>
                <a:cs typeface="Aptos"/>
              </a:rPr>
              <a:t>Does every metric trace to a real dataset?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217E5B-35A1-404D-9FBC-48971BA65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4350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D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9E89FC-B28C-4404-A88C-1954A91B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2922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7E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E75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51ADEA-6DE3-41E6-BE43-CA3BDC35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198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6B81E4-4107-4895-9488-5FA396D2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72250"/>
            <a:ext cx="723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7E75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087E7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3211C8-B073-424C-B41B-703AC767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5913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LOGIC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51265B-ED5D-4D38-929B-C4CE16AC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5913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283C"/>
                </a:solidFill>
                <a:latin typeface="Aptos"/>
                <a:ea typeface="Aptos"/>
                <a:cs typeface="Aptos"/>
              </a:rPr>
              <a:t>Can the calculation be reproduced?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3A9159-4F36-46D2-B873-4850922D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57225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09B2C2-0D1B-4EBC-9581-7F0C1CE0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6579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7E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E75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A3ECD8-8DF2-497A-8A01-02FDEEAC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485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403091-FFF5-41BD-B2D5-3DBE23A7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01000"/>
            <a:ext cx="723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7E75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087E7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5ACAD6-EED2-4FAB-B456-6E91A5502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8020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QUALITY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C97C86-DB47-4EB5-AB0B-C321932C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0200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283C"/>
                </a:solidFill>
                <a:latin typeface="Aptos"/>
                <a:ea typeface="Aptos"/>
                <a:cs typeface="Aptos"/>
              </a:rPr>
              <a:t>Are gaps, dates, and units controlled?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67CFBF-B0FD-4A71-9D17-37C841FF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800100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9D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95C378-CF51-4E88-8626-66998886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808672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7E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E75"/>
                </a:solidFill>
                <a:latin typeface="Aptos"/>
                <a:ea typeface="Aptos"/>
                <a:cs typeface="Aptos"/>
              </a:rPr>
              <a:t>Controls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960C23-9989-47C9-A816-D16183FA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8773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FE3EF6-CC6D-4C15-B07B-22E55872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0"/>
            <a:ext cx="723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87E75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087E7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97D155-6327-42D9-AF21-B06CBDD4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94488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VALUE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7D0841-7FB2-4201-A14B-27982C36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94488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0283C"/>
                </a:solidFill>
                <a:latin typeface="Aptos"/>
                <a:ea typeface="Aptos"/>
                <a:cs typeface="Aptos"/>
              </a:rPr>
              <a:t>Does the output change an action?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29A0D8-6363-4AD0-A12B-E846FD5A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9429750"/>
            <a:ext cx="12382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5E9CB"/>
          </a:solidFill>
          <a:ln xmlns:a="http://schemas.openxmlformats.org/drawingml/2006/main" w="9525">
            <a:solidFill>
              <a:srgbClr val="CED9D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47C57E-E25F-4346-B0AD-6FA76BDD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9515475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7E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E75"/>
                </a:solidFill>
                <a:latin typeface="Aptos"/>
                <a:ea typeface="Aptos"/>
                <a:cs typeface="Aptos"/>
              </a:rPr>
              <a:t>Impact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63745B-B2EE-4AD5-995D-15FFE31DF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3060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2E5162-9451-478C-951B-7CF30E51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858500"/>
            <a:ext cx="91440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71B2D"/>
          </a:solidFill>
          <a:ln xmlns:a="http://schemas.openxmlformats.org/drawingml/2006/main" w="9525">
            <a:solidFill>
              <a:srgbClr val="071B2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202CC7-359A-4AE4-B119-66096EB1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0871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If one answer is “no,” the ranking is not ready for executive use.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32CE50-406F-4940-ADCC-7287DB1F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3CB005-7488-410C-AB8B-8CD5C4CC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A624B7-7DA5-4680-AC4B-95C6774F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EF6A8EA-825C-48F1-861B-34C0E854F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F2A8B4-88BE-43AC-851E-3DC9C85B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8F3579-4E89-4721-A72C-BFF22CB8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A67B4D-2569-4D01-8588-A0D865EA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24C35C-FB91-4180-AE68-75B7F290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0082B0-B6D8-401D-9AC3-0B7D8620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07829E3-E660-4947-9486-A5380EF3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3F71F9-F1A4-4517-B687-74E2B6D0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20300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890A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890A1"/>
                </a:solidFill>
                <a:latin typeface="Aptos"/>
                <a:ea typeface="Aptos"/>
                <a:cs typeface="Aptos"/>
              </a:rPr>
              <a:t>SWIPE  →</a:t>
            </a:r>
          </a:p>
        </p:txBody>
      </p:sp>
    </p:spTree>
    <p:extLst>
      <p:ext uri="{BB962C8B-B14F-4D97-AF65-F5344CB8AC3E}">
        <p14:creationId xmlns:p14="http://schemas.microsoft.com/office/powerpoint/2010/main" val="20685964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93CBC0-6414-43F0-B96E-83D26A9A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BD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BDEB"/>
                </a:solidFill>
                <a:latin typeface="Aptos"/>
                <a:ea typeface="Aptos"/>
                <a:cs typeface="Aptos"/>
              </a:rPr>
              <a:t>ANURAG SINGH  •  BUSINESS ANALYST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9408C-DDA4-464C-B14C-B02D7FDA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53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AUDIT  / 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15076-0174-4848-AD0F-96F1428B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B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DE29E0-3DB1-4458-8019-13687BDE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914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4,298 rows can - and cannot -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CE8C00-6D37-474C-B294-53744759B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D7E5E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7E5EE"/>
                </a:solidFill>
                <a:latin typeface="Aptos"/>
                <a:ea typeface="Aptos"/>
                <a:cs typeface="Aptos"/>
              </a:rPr>
              <a:t>The FRED file is clean enough for Treasury analysis, but insufficient for a global credibility index.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34E5F-2D37-45F5-84F5-38F0E96A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8B7A6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8B7A6"/>
                </a:solidFill>
                <a:latin typeface="Aptos"/>
                <a:ea typeface="Aptos"/>
                <a:cs typeface="Aptos"/>
              </a:rPr>
              <a:t>4,298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AC1D90-293B-4224-BF56-CD5447AE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00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890A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890A1"/>
                </a:solidFill>
                <a:latin typeface="Aptos"/>
                <a:ea typeface="Aptos"/>
                <a:cs typeface="Aptos"/>
              </a:rPr>
              <a:t>weekday rows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CBFF5C-7D30-4E83-80D2-EC0636530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76237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57BE82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57BE82"/>
                </a:solidFill>
                <a:latin typeface="Aptos"/>
                <a:ea typeface="Aptos"/>
                <a:cs typeface="Aptos"/>
              </a:rPr>
              <a:t>4,120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DD2244-86D5-43A1-9561-ED8DCF9B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400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890A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890A1"/>
                </a:solidFill>
                <a:latin typeface="Aptos"/>
                <a:ea typeface="Aptos"/>
                <a:cs typeface="Aptos"/>
              </a:rPr>
              <a:t>valid observations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C01838-B325-400C-AAB5-89B9B25C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6237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DFAE45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DFAE45"/>
                </a:solidFill>
                <a:latin typeface="Aptos"/>
                <a:ea typeface="Aptos"/>
                <a:cs typeface="Aptos"/>
              </a:rPr>
              <a:t>178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195E69-5E5A-4867-87AA-AFC52305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00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890A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890A1"/>
                </a:solidFill>
                <a:latin typeface="Aptos"/>
                <a:ea typeface="Aptos"/>
                <a:cs typeface="Aptos"/>
              </a:rPr>
              <a:t>holiday nulls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1BFF40-B073-43A2-93A8-D376DEE8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762375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64BDE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64BDE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CB30DA-83B1-4AF8-AB38-C68A1B18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4005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890A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7890A1"/>
                </a:solidFill>
                <a:latin typeface="Aptos"/>
                <a:ea typeface="Aptos"/>
                <a:cs typeface="Aptos"/>
              </a:rPr>
              <a:t>duplicate dates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28CC60-BC94-40F9-8256-0C0D949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00625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B6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6FC16F-A10F-482D-A99D-EE2FD1CF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B7A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B7A6"/>
                </a:solidFill>
                <a:latin typeface="Aptos"/>
                <a:ea typeface="Aptos"/>
                <a:cs typeface="Aptos"/>
              </a:rPr>
              <a:t>THE FILE CAN ANSWER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1C4C11-5A0E-41BB-95A3-CA5E5934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960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7BE8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7BE82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AF2B28-161A-404F-B2E8-9921C91A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115050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How US 10-year yields changed over 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AE671B-C80A-42B8-A55C-D9A88928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9532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7BE8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7BE82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E38ABE-3B04-4B4E-BA0E-D9CB9A76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972300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When volatility and repricing were most extreme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ED9D72-8862-48F8-822F-7ECC9F4A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78105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7BE8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57BE82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8EDE12-805D-4C51-A0E1-091F8564F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829550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Whether the current yield level is historically unusual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0E0DC3-7A41-443E-BD4D-330A7B736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4768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THE FILE CANNOT ANSWER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2B79B4-979D-438C-953A-58A83A77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60960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76DD11-1C28-4103-BFAF-98781792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115050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Which central bank is most credible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D98DE3-8722-45B4-89A1-FD09FC2F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69532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7D2B8D-BBEC-461C-8A5F-B659AABF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972300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Whether words matched policy actions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7FCD3F-CA21-41B8-81E5-EF3E07AAF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78105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398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039549-F0B5-4558-B260-C043ACF7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7829550"/>
            <a:ext cx="3524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How inflation, forecasts, bonds, and FX compare globally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79268E-5102-4804-99ED-97321EDE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29750"/>
            <a:ext cx="9144000" cy="1619250"/>
          </a:xfrm>
          <a:prstGeom xmlns:a="http://schemas.openxmlformats.org/drawingml/2006/main" prst="roundRect">
            <a:avLst>
              <a:gd name="adj" fmla="val 10588"/>
            </a:avLst>
          </a:prstGeom>
          <a:solidFill xmlns:a="http://schemas.openxmlformats.org/drawingml/2006/main">
            <a:srgbClr val="0E3049"/>
          </a:solidFill>
          <a:ln xmlns:a="http://schemas.openxmlformats.org/drawingml/2006/main" w="9525">
            <a:solidFill>
              <a:srgbClr val="2B4B6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8B1079-FAE8-4043-A538-75BE4E53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7631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FAE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FAE45"/>
                </a:solidFill>
                <a:latin typeface="Aptos"/>
                <a:ea typeface="Aptos"/>
                <a:cs typeface="Aptos"/>
              </a:rPr>
              <a:t>Scope correction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FC2AE0-2300-4D53-8B6D-E360DB6F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1917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Reframe the current output as a US Treasury market-risk dashboard - not a global central-bank leaderboard.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596518-FB5A-4B91-B1C2-133D0651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71575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90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90A1"/>
                </a:solidFill>
                <a:latin typeface="Aptos"/>
                <a:ea typeface="Aptos"/>
                <a:cs typeface="Aptos"/>
              </a:rPr>
              <a:t>Audit period: 1 Jan 2010 to 23 Jun 2026. Numerical calculations exclude null observations.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BC4BFF-D0ED-4C19-8F94-D9B6BC40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DE25559-F2FB-46BF-BAA2-DC992894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60EC5F-A310-4B83-9B70-BEAE855D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77A098-605A-413F-96C3-3F38A460D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2F9D56-22D5-4EBA-ABC4-BC8FEC9D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B7CE10-8C9C-43D0-8B33-4F4399AB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B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3E620B6-CEAF-454D-B56D-377DC34B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B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A0A13D2-E37E-4FD5-8E9D-D27E75E5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B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531DC1-EBD0-457E-97BA-58F4FFD3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B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40F1DD-A65E-48B5-A371-585E4030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B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9FC850-6460-42F2-93F2-D72513A7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20300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D7E5E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7E5EE"/>
                </a:solidFill>
                <a:latin typeface="Aptos"/>
                <a:ea typeface="Aptos"/>
                <a:cs typeface="Aptos"/>
              </a:rPr>
              <a:t>SWIPE  →</a:t>
            </a:r>
          </a:p>
        </p:txBody>
      </p:sp>
    </p:spTree>
    <p:extLst>
      <p:ext uri="{BB962C8B-B14F-4D97-AF65-F5344CB8AC3E}">
        <p14:creationId xmlns:p14="http://schemas.microsoft.com/office/powerpoint/2010/main" val="13459741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65F996-3AE8-45CC-83B9-A4DE36A9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E75"/>
                </a:solidFill>
                <a:latin typeface="Aptos"/>
                <a:ea typeface="Aptos"/>
                <a:cs typeface="Aptos"/>
              </a:rPr>
              <a:t>ANURAG SINGH  •  BUSINESS ANALYST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ECAC40-7C6C-4668-907C-AA32909D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53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83C"/>
                </a:solidFill>
                <a:latin typeface="Aptos"/>
                <a:ea typeface="Aptos"/>
                <a:cs typeface="Aptos"/>
              </a:rPr>
              <a:t>VERIFIED INSIGHT  /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FB8DE-B895-4E19-83C7-D09F87970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B96633-5854-49DA-9171-4C20D0DB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914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750" b="1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The actual data tells a U-shaped market story.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DDC17-3E71-416A-BBB1-B8821468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7890A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7890A1"/>
                </a:solidFill>
                <a:latin typeface="Aptos"/>
                <a:ea typeface="Aptos"/>
                <a:cs typeface="Aptos"/>
              </a:rPr>
              <a:t>Annual average US 10-year Treasury yield, calculated from valid daily observations.</a:t>
            </a:r>
          </a:p>
        </p:txBody>
      </p:sp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666750" y="3714750"/>
          <a:ext xmlns:a="http://schemas.openxmlformats.org/drawingml/2006/main" cx="8953500" cy="5048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cfe954bb484d4e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9D467F-7335-4FA3-997A-AE1A07F1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3345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64BDEB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64BDEB"/>
                </a:solidFill>
                <a:latin typeface="Aptos"/>
                <a:ea typeface="Aptos"/>
                <a:cs typeface="Aptos"/>
              </a:rPr>
              <a:t>0.52%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1062E-4F14-4268-B124-9DB7F6E4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250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83C"/>
                </a:solidFill>
                <a:latin typeface="Aptos"/>
                <a:ea typeface="Aptos"/>
                <a:cs typeface="Aptos"/>
              </a:rPr>
              <a:t>sample 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4331BD-17C8-4D3F-81CD-7CED646C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203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890A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890A1"/>
                </a:solidFill>
                <a:latin typeface="Aptos"/>
                <a:ea typeface="Aptos"/>
                <a:cs typeface="Aptos"/>
              </a:rPr>
              <a:t>4 Aug 2020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6E9BA-996F-4D4F-9C36-14E5C170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3345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4.98%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70053-5471-4F56-84FA-1372A35E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99250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83C"/>
                </a:solidFill>
                <a:latin typeface="Aptos"/>
                <a:ea typeface="Aptos"/>
                <a:cs typeface="Aptos"/>
              </a:rPr>
              <a:t>sample peak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DE14F8-4D75-4881-AC6E-4D8F4E0F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02203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890A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890A1"/>
                </a:solidFill>
                <a:latin typeface="Aptos"/>
                <a:ea typeface="Aptos"/>
                <a:cs typeface="Aptos"/>
              </a:rPr>
              <a:t>19 Oct 2023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A17E0-0516-4CCF-876E-DD752692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3345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87E75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087E75"/>
                </a:solidFill>
                <a:latin typeface="Aptos"/>
                <a:ea typeface="Aptos"/>
                <a:cs typeface="Aptos"/>
              </a:rPr>
              <a:t>4.50%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C47795-3A6C-4B64-B37E-C8338059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9925050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83C"/>
                </a:solidFill>
                <a:latin typeface="Aptos"/>
                <a:ea typeface="Aptos"/>
                <a:cs typeface="Aptos"/>
              </a:rPr>
              <a:t>latest yield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1281F1-01A9-45BD-968F-EE9B7ACB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02203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890A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7890A1"/>
                </a:solidFill>
                <a:latin typeface="Aptos"/>
                <a:ea typeface="Aptos"/>
                <a:cs typeface="Aptos"/>
              </a:rPr>
              <a:t>23 Jun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23D689-529E-4057-B78C-8E74B88B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5375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The post-2020 move was a structural repricing, not a short-lived spike.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FB56EB-7904-4E59-8C3B-AD9A3F30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71575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2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28E"/>
                </a:solidFill>
                <a:latin typeface="Aptos"/>
                <a:ea typeface="Aptos"/>
                <a:cs typeface="Aptos"/>
              </a:rPr>
              <a:t>Source: FRED DGS10 CSV in the project repository. Y-axis is percentage points.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68E1A6-E2AD-4F3A-B348-83C07508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DE6DA7-CB4B-486B-B57E-4CC1AB62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905ADA-B8D6-4B19-8695-38A34F45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BCEDC9-F04B-4D7D-BC71-806A43DD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539793-DA59-4160-B27E-E2CC30CD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0984CD-7FEF-4C3C-B171-9C264139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EF20E4-73A5-444F-B815-A8BC044A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0B5701-B3FA-41D5-8659-2956A323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F1EB2C-2722-40CC-9739-79EA914B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A5A5C2-8DE5-4570-A224-D50DE80C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5C1510-F9D8-43D4-A1E7-ECFCD069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20300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890A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890A1"/>
                </a:solidFill>
                <a:latin typeface="Aptos"/>
                <a:ea typeface="Aptos"/>
                <a:cs typeface="Aptos"/>
              </a:rPr>
              <a:t>SWIPE  →</a:t>
            </a:r>
          </a:p>
        </p:txBody>
      </p:sp>
    </p:spTree>
    <p:extLst>
      <p:ext uri="{BB962C8B-B14F-4D97-AF65-F5344CB8AC3E}">
        <p14:creationId xmlns:p14="http://schemas.microsoft.com/office/powerpoint/2010/main" val="5759524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AF431F-8008-4CAF-9D20-852D9517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BD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BDEB"/>
                </a:solidFill>
                <a:latin typeface="Aptos"/>
                <a:ea typeface="Aptos"/>
                <a:cs typeface="Aptos"/>
              </a:rPr>
              <a:t>ANURAG SINGH  •  BUSINESS ANALYST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A1C92B-F444-4D21-9856-0C4068A7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53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EXECUTIVE INSIGHT  / 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FB086-628D-4605-9095-28F72ADA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B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8BC2B9-2B4B-4686-AF0B-B1F0825E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914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High yield does not mean market panic.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9169B-CB3F-4FD9-8545-A29EDBB13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D7E5E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7E5EE"/>
                </a:solidFill>
                <a:latin typeface="Aptos"/>
                <a:ea typeface="Aptos"/>
                <a:cs typeface="Aptos"/>
              </a:rPr>
              <a:t>The most decision-useful insight appears only when level and volatility are separated.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659CC-DA38-4D19-AAB8-B7AE8EEE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BD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4BDEB"/>
                </a:solidFill>
                <a:latin typeface="Aptos"/>
                <a:ea typeface="Aptos"/>
                <a:cs typeface="Aptos"/>
              </a:rPr>
              <a:t>YIELD LEVEL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0E826-23BB-41D4-893A-71EA09F9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DFAE45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DFAE45"/>
                </a:solidFill>
                <a:latin typeface="Aptos"/>
                <a:ea typeface="Aptos"/>
                <a:cs typeface="Aptos"/>
              </a:rPr>
              <a:t>97th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C65A85-E86E-4452-9148-3E9B0785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historical percentile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9AB55-C6B3-4413-81B7-8D0AD5B24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8382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B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470C9-F3F2-4996-B722-55C5F9C3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81343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FAE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82BF19-68F6-4951-BB52-109146FA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293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FAE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FAE45"/>
                </a:solidFill>
                <a:latin typeface="Aptos"/>
                <a:ea typeface="Aptos"/>
                <a:cs typeface="Aptos"/>
              </a:rPr>
              <a:t>Latest yield: 4.50%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A449CC-8E02-4BA2-80BD-864652753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4295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4BD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4BDEB"/>
                </a:solidFill>
                <a:latin typeface="Aptos"/>
                <a:ea typeface="Aptos"/>
                <a:cs typeface="Aptos"/>
              </a:rPr>
              <a:t>21-DAY VOLATILITY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591DE8-A1ED-4CC3-BAC3-F6AD8D86D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58125"/>
            <a:ext cx="295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84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8B7A6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18B7A6"/>
                </a:solidFill>
                <a:latin typeface="Aptos"/>
                <a:ea typeface="Aptos"/>
                <a:cs typeface="Aptos"/>
              </a:rPr>
              <a:t>39th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54593-88EC-4F34-8F4A-2690ED3E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4395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historical percentile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B14D8C-C851-4095-A3F5-04E09191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77375"/>
            <a:ext cx="8382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B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885A54-F655-47A8-9DED-E84E8AE2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477375"/>
            <a:ext cx="32670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0B851D-99B5-4A72-BC6A-DE96C94E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536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B7A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B7A6"/>
                </a:solidFill>
                <a:latin typeface="Aptos"/>
                <a:ea typeface="Aptos"/>
                <a:cs typeface="Aptos"/>
              </a:rPr>
              <a:t>Latest annualized reading: 67 bp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E6D5F7-EBCF-4A1A-B144-7D610A80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3048000" cy="5191125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0E3049"/>
          </a:solidFill>
          <a:ln xmlns:a="http://schemas.openxmlformats.org/drawingml/2006/main" w="9525">
            <a:solidFill>
              <a:srgbClr val="2B4B6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B57230-D331-4C1B-BED5-D70611D4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3624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SO WHAT?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D8919D-4C1E-4961-B13F-07340002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095875"/>
            <a:ext cx="228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market is pricing a high-rate regime...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D4D830-E08C-4636-84AF-199831C2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6572250"/>
            <a:ext cx="228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B7A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B7A6"/>
                </a:solidFill>
                <a:latin typeface="Aptos"/>
                <a:ea typeface="Aptos"/>
                <a:cs typeface="Aptos"/>
              </a:rPr>
              <a:t>...without behaving like a current crisis.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F0015B-E5EC-42B6-9C03-6F7D7100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8048625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E5E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D7E5EE"/>
                </a:solidFill>
                <a:latin typeface="Aptos"/>
                <a:ea typeface="Aptos"/>
                <a:cs typeface="Aptos"/>
              </a:rPr>
              <a:t>This distinction matters for risk, duration, and scenario design.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ED97F3-294A-468C-94FB-EF1CFCA8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906125"/>
            <a:ext cx="914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FAE45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FAE45"/>
                </a:solidFill>
                <a:latin typeface="Aptos"/>
                <a:ea typeface="Aptos"/>
                <a:cs typeface="Aptos"/>
              </a:rPr>
              <a:t>Insight &gt; chart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AD8256-7B5C-46DF-9D91-0736DA94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71575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890A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890A1"/>
                </a:solidFill>
                <a:latin typeface="Aptos"/>
                <a:ea typeface="Aptos"/>
                <a:cs typeface="Aptos"/>
              </a:rPr>
              <a:t>Percentiles calculated across the full 2010-2026 valid-observation history.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750E13-9831-4C1A-9DCA-38896879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F6A521-8140-4728-9C15-AC5F0F0D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C9CFD9-5E85-4062-9B90-4D4781D6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A88211-9A08-4EF4-826A-ECAE1A67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D96BAC-6CA9-470E-B7DC-C3301D60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CEC652-7892-4CE3-84C8-BBA61298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75B946-14D2-40FE-9E5A-DE6A8C60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B9E961-7CF0-4C86-95E7-1AA1AF74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B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75948E-DB33-4DAD-9951-6489D18D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B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6837B1-956D-4CA1-A3DF-632142AE5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B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64A964-AE50-401F-9528-4A9563C7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20300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D7E5E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7E5EE"/>
                </a:solidFill>
                <a:latin typeface="Aptos"/>
                <a:ea typeface="Aptos"/>
                <a:cs typeface="Aptos"/>
              </a:rPr>
              <a:t>SWIPE  →</a:t>
            </a:r>
          </a:p>
        </p:txBody>
      </p:sp>
    </p:spTree>
    <p:extLst>
      <p:ext uri="{BB962C8B-B14F-4D97-AF65-F5344CB8AC3E}">
        <p14:creationId xmlns:p14="http://schemas.microsoft.com/office/powerpoint/2010/main" val="588610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04084B-608E-48B1-A625-1A9BF152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E75"/>
                </a:solidFill>
                <a:latin typeface="Aptos"/>
                <a:ea typeface="Aptos"/>
                <a:cs typeface="Aptos"/>
              </a:rPr>
              <a:t>ANURAG SINGH  •  BUSINESS ANALYST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E62A1-58F0-4301-ABCC-53DE89E7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53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83C"/>
                </a:solidFill>
                <a:latin typeface="Aptos"/>
                <a:ea typeface="Aptos"/>
                <a:cs typeface="Aptos"/>
              </a:rPr>
              <a:t>SOLUTION DESIGN  /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14AD9B-885D-4CDD-BED8-C2F4DE7E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49EB1C-77D0-4FED-B44E-9CBEABF0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914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750" b="1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To rank ten central banks,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3750" b="1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I would build a real evidence panel.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E6C87-0314-4E17-A2D5-EB2D6764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7890A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7890A1"/>
                </a:solidFill>
                <a:latin typeface="Aptos"/>
                <a:ea typeface="Aptos"/>
                <a:cs typeface="Aptos"/>
              </a:rPr>
              <a:t>One institution × five pillars × one consistent time axis - repeated across all ten banks.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E0BAA2-7CF8-405A-A2FF-E6EE9169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7E7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87E75"/>
                </a:solidFill>
                <a:latin typeface="Aptos"/>
                <a:ea typeface="Aptos"/>
                <a:cs typeface="Aptos"/>
              </a:rPr>
              <a:t>30%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E7833C-FD1B-48D9-BACE-0E30C1EE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14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INFLATION ANCHORING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50A66D-D8CE-4E41-AC2B-A081BAA6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14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83C"/>
                </a:solidFill>
                <a:latin typeface="Aptos"/>
                <a:ea typeface="Aptos"/>
                <a:cs typeface="Aptos"/>
              </a:rPr>
              <a:t>CPI vs official target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F47FE-A1F3-47D6-93F8-8DADEC87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86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83C"/>
                </a:solidFill>
                <a:latin typeface="Aptos"/>
                <a:ea typeface="Aptos"/>
                <a:cs typeface="Aptos"/>
              </a:rPr>
              <a:t>Mandate delivery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A6340E-D98F-4316-B7C3-C57D5D46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19525"/>
            <a:ext cx="1333500" cy="400050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DDF3EF"/>
          </a:solidFill>
          <a:ln xmlns:a="http://schemas.openxmlformats.org/drawingml/2006/main" w="9525">
            <a:solidFill>
              <a:srgbClr val="CED8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B194AE-748A-4C82-920E-E183B3DA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9338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7E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E75"/>
                </a:solidFill>
                <a:latin typeface="Aptos"/>
                <a:ea typeface="Aptos"/>
                <a:cs typeface="Aptos"/>
              </a:rPr>
              <a:t>MONTHLY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FCFCE-B2D1-4367-A5E6-C6FAAC6D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910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D5CD5E-5269-4BA1-905F-2BC41A52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054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9DAD6-770F-4314-922C-F6547BAE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048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POLICY CONSISTENCY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BEF4A-95DD-49B8-B461-95BBA009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448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83C"/>
                </a:solidFill>
                <a:latin typeface="Aptos"/>
                <a:ea typeface="Aptos"/>
                <a:cs typeface="Aptos"/>
              </a:rPr>
              <a:t>Statements vs rate actions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0134CB-16BC-42B7-8D06-49E62276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9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83C"/>
                </a:solidFill>
                <a:latin typeface="Aptos"/>
                <a:ea typeface="Aptos"/>
                <a:cs typeface="Aptos"/>
              </a:rPr>
              <a:t>Words-to-actions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43564D-CA3D-44FD-9A4D-F8941E47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53025"/>
            <a:ext cx="1333500" cy="400050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AE2DE"/>
          </a:solidFill>
          <a:ln xmlns:a="http://schemas.openxmlformats.org/drawingml/2006/main" w="9525">
            <a:solidFill>
              <a:srgbClr val="CED8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264FB8-A8C4-417C-9196-6E20848F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673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7E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E75"/>
                </a:solidFill>
                <a:latin typeface="Aptos"/>
                <a:ea typeface="Aptos"/>
                <a:cs typeface="Aptos"/>
              </a:rPr>
              <a:t>MONTHLY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AF1D18-5C84-48F6-99C0-717BE405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30C7F7-3201-43CA-9CA0-7BE7381B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57BE82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57BE82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65A5C5-3162-4BDA-B856-A4FAA5D7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381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FORECAST ACCURACY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75E332-866D-45F5-9E7A-DADC0508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781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83C"/>
                </a:solidFill>
                <a:latin typeface="Aptos"/>
                <a:ea typeface="Aptos"/>
                <a:cs typeface="Aptos"/>
              </a:rPr>
              <a:t>Published forecast vs actual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3C065D-F270-4B2B-ABEC-86BF2443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553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83C"/>
                </a:solidFill>
                <a:latin typeface="Aptos"/>
                <a:ea typeface="Aptos"/>
                <a:cs typeface="Aptos"/>
              </a:rPr>
              <a:t>Institutional learning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12BC9F-B113-4396-8370-3DC46C0D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486525"/>
            <a:ext cx="1333500" cy="400050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8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2CF854-4017-47FB-AAD7-48991508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6008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7E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E75"/>
                </a:solidFill>
                <a:latin typeface="Aptos"/>
                <a:ea typeface="Aptos"/>
                <a:cs typeface="Aptos"/>
              </a:rPr>
              <a:t>MONTHLY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349BD8-AB16-4E1A-844F-3E68E2EC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580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5CAA76-B100-4D01-A219-2F3973F1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7724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DFAE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DFAE45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10C26B-8D12-454F-92CF-D7BCC19A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715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BOND CONFIDENCE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D6EF85-01A2-4CEE-AC9E-2E2080BD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81153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83C"/>
                </a:solidFill>
                <a:latin typeface="Aptos"/>
                <a:ea typeface="Aptos"/>
                <a:cs typeface="Aptos"/>
              </a:rPr>
              <a:t>Local 10Y volatility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E4E3EC-E1D6-4FE1-9F0E-7EE2A2DE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7886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83C"/>
                </a:solidFill>
                <a:latin typeface="Aptos"/>
                <a:ea typeface="Aptos"/>
                <a:cs typeface="Aptos"/>
              </a:rPr>
              <a:t>Market trust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A5AE7A-35A8-46CD-873C-FAACC0B0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7820025"/>
            <a:ext cx="1333500" cy="400050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8D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2968B1-E78E-482B-9131-0A5E541F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79343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7E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E75"/>
                </a:solidFill>
                <a:latin typeface="Aptos"/>
                <a:ea typeface="Aptos"/>
                <a:cs typeface="Aptos"/>
              </a:rPr>
              <a:t>MONTHLY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489011-5A34-4593-A553-939A5F44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915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5BB052E-5457-4B8A-A304-10BDFB12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1059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4BDE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64BDEB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A137BE-8543-4480-BC35-19DCBCF5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9048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FX STABILITY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99F6E42-530D-4302-9751-11D4BA95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94488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0283C"/>
                </a:solidFill>
                <a:latin typeface="Aptos"/>
                <a:ea typeface="Aptos"/>
                <a:cs typeface="Aptos"/>
              </a:rPr>
              <a:t>REER / currency volatility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65EAD2-6511-4AC0-879C-9A0D00B18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92202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83C"/>
                </a:solidFill>
                <a:latin typeface="Aptos"/>
                <a:ea typeface="Aptos"/>
                <a:cs typeface="Aptos"/>
              </a:rPr>
              <a:t>External confidence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B74843-FBBB-4920-83F9-89DFD6AB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153525"/>
            <a:ext cx="1333500" cy="400050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ED8D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66389B5-A406-41AC-826F-12F43989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2678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7E7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87E75"/>
                </a:solidFill>
                <a:latin typeface="Aptos"/>
                <a:ea typeface="Aptos"/>
                <a:cs typeface="Aptos"/>
              </a:rPr>
              <a:t>MONTHLY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660A23-749C-4D2D-B564-98510550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9250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8D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A20C720-FCEA-47AB-8843-D25D96BF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20375"/>
            <a:ext cx="91440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71B2D"/>
          </a:solidFill>
          <a:ln xmlns:a="http://schemas.openxmlformats.org/drawingml/2006/main" w="9525">
            <a:solidFill>
              <a:srgbClr val="071B2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8A43D2-D9DF-4F74-B393-EDF9CE74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88707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49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Only after coverage, definitions, and time windows match should the model produce a leaderboard.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688FE0-12F8-4E62-A044-C4F658A2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5AD8DB-34BA-4FE2-854E-AFB28FFD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511BE01-668D-4E75-97D8-4E18A7EB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5F29BA9-21D9-4B0B-8269-3C1832702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62AA629-AFFE-4999-97C9-2F815B78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5316117-ABE4-45ED-9486-E7FED93E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505C3A-624F-409A-9413-EF6550C7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8CD3CD-1CF8-40D0-AEA9-C738FFF3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5E69280-39BC-4B53-B3B7-1D6EDFE6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9E8AF07-3D9D-4AB8-BCEE-1F3481F2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D4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D59F861-392B-44C0-A15B-D40F3622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20300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890A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890A1"/>
                </a:solidFill>
                <a:latin typeface="Aptos"/>
                <a:ea typeface="Aptos"/>
                <a:cs typeface="Aptos"/>
              </a:rPr>
              <a:t>SWIPE  →</a:t>
            </a:r>
          </a:p>
        </p:txBody>
      </p:sp>
    </p:spTree>
    <p:extLst>
      <p:ext uri="{BB962C8B-B14F-4D97-AF65-F5344CB8AC3E}">
        <p14:creationId xmlns:p14="http://schemas.microsoft.com/office/powerpoint/2010/main" val="16930771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898107-1128-4F83-A86A-6A74104B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BDE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BDEB"/>
                </a:solidFill>
                <a:latin typeface="Aptos"/>
                <a:ea typeface="Aptos"/>
                <a:cs typeface="Aptos"/>
              </a:rPr>
              <a:t>ANURAG SINGH  •  BUSINESS ANALYST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D7482-A44F-4BDB-80AA-063274E1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53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PRODUCT ROADMAP  / 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33027-4118-45E5-8023-3AFFB0FD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B6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5673E-ED48-4D78-8761-683689C8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914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From flawed prototype to decision product in 90 days.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7F12F-191C-468C-A659-5D2AD8A6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D7E5EE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7E5EE"/>
                </a:solidFill>
                <a:latin typeface="Aptos"/>
                <a:ea typeface="Aptos"/>
                <a:cs typeface="Aptos"/>
              </a:rPr>
              <a:t>A business analyst connects data requirements, model controls, stakeholders, and adoption.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A5C053-E2F5-4BB8-814C-9B7AFB3E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64BDEB"/>
                </a:solidFill>
                <a:latin typeface="Aptos"/>
                <a:ea typeface="Aptos"/>
                <a:cs typeface="Aptos"/>
              </a:defRPr>
            </a:pPr>
            <a:r>
              <a:rPr sz="3975" b="1">
                <a:solidFill>
                  <a:srgbClr val="64BDEB"/>
                </a:solidFill>
                <a:latin typeface="Aptos"/>
                <a:ea typeface="Aptos"/>
                <a:cs typeface="Aptos"/>
              </a:rPr>
              <a:t>0-30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C9F40-D1D6-4ABD-B823-7AECDBF5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91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890A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890A1"/>
                </a:solidFill>
                <a:latin typeface="Aptos"/>
                <a:ea typeface="Aptos"/>
                <a:cs typeface="Aptos"/>
              </a:rPr>
              <a:t>DAYS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F632E-9B25-4689-9139-D43F15A3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10DAD6-4D3A-47DE-9F6F-ACB5B732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2667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D7E5E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E5EE"/>
                </a:solidFill>
                <a:latin typeface="Aptos"/>
                <a:ea typeface="Aptos"/>
                <a:cs typeface="Aptos"/>
              </a:rPr>
              <a:t>Data inventory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D7E5E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E5EE"/>
                </a:solidFill>
                <a:latin typeface="Aptos"/>
                <a:ea typeface="Aptos"/>
                <a:cs typeface="Aptos"/>
              </a:rPr>
              <a:t>Metric definitions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D7E5E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E5EE"/>
                </a:solidFill>
                <a:latin typeface="Aptos"/>
                <a:ea typeface="Aptos"/>
                <a:cs typeface="Aptos"/>
              </a:rPr>
              <a:t>Stakeholder interviews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8F0C61-7AB6-4C74-91C5-6835A98D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7675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B4B60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2B4B6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BC5C25-5CA6-4A07-A47F-4A09237B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052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8B7A6"/>
                </a:solidFill>
                <a:latin typeface="Aptos"/>
                <a:ea typeface="Aptos"/>
                <a:cs typeface="Aptos"/>
              </a:defRPr>
            </a:pPr>
            <a:r>
              <a:rPr sz="3975" b="1">
                <a:solidFill>
                  <a:srgbClr val="18B7A6"/>
                </a:solidFill>
                <a:latin typeface="Aptos"/>
                <a:ea typeface="Aptos"/>
                <a:cs typeface="Aptos"/>
              </a:rPr>
              <a:t>31-60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0CF61A-688E-42FD-BCC2-A74F38BF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91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890A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890A1"/>
                </a:solidFill>
                <a:latin typeface="Aptos"/>
                <a:ea typeface="Aptos"/>
                <a:cs typeface="Aptos"/>
              </a:rPr>
              <a:t>DAYS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DFBC12-E392-4800-934E-660DF2E2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57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82353F-18F2-4683-92AE-2D6EB590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29250"/>
            <a:ext cx="2667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D7E5E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E5EE"/>
                </a:solidFill>
                <a:latin typeface="Aptos"/>
                <a:ea typeface="Aptos"/>
                <a:cs typeface="Aptos"/>
              </a:rPr>
              <a:t>Pilot 3 banks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D7E5E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E5EE"/>
                </a:solidFill>
                <a:latin typeface="Aptos"/>
                <a:ea typeface="Aptos"/>
                <a:cs typeface="Aptos"/>
              </a:rPr>
              <a:t>Automate checks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D7E5E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E5EE"/>
                </a:solidFill>
                <a:latin typeface="Aptos"/>
                <a:ea typeface="Aptos"/>
                <a:cs typeface="Aptos"/>
              </a:rPr>
              <a:t>Back-test weights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B6D48B-D043-4C5E-B7FD-E3181918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7675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B4B60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2B4B60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BD76B1-0CE5-4F17-92CD-09A4A091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05250"/>
            <a:ext cx="266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DFAE45"/>
                </a:solidFill>
                <a:latin typeface="Aptos"/>
                <a:ea typeface="Aptos"/>
                <a:cs typeface="Aptos"/>
              </a:defRPr>
            </a:pPr>
            <a:r>
              <a:rPr sz="3975" b="1">
                <a:solidFill>
                  <a:srgbClr val="DFAE45"/>
                </a:solidFill>
                <a:latin typeface="Aptos"/>
                <a:ea typeface="Aptos"/>
                <a:cs typeface="Aptos"/>
              </a:rPr>
              <a:t>61-90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0AEDDB-B1C0-4A4E-9900-8B6B5E6B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9100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890A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890A1"/>
                </a:solidFill>
                <a:latin typeface="Aptos"/>
                <a:ea typeface="Aptos"/>
                <a:cs typeface="Aptos"/>
              </a:rPr>
              <a:t>DAYS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766D25-5F55-46CA-A667-7BC3A3FD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57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DELIVER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B83BAE-50D6-432D-9F4F-5C8725A1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29250"/>
            <a:ext cx="2667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D7E5E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E5EE"/>
                </a:solidFill>
                <a:latin typeface="Aptos"/>
                <a:ea typeface="Aptos"/>
                <a:cs typeface="Aptos"/>
              </a:rPr>
              <a:t>Scale to 10 banks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D7E5E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E5EE"/>
                </a:solidFill>
                <a:latin typeface="Aptos"/>
                <a:ea typeface="Aptos"/>
                <a:cs typeface="Aptos"/>
              </a:rPr>
              <a:t>Executive dashboard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D7E5EE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E5EE"/>
                </a:solidFill>
                <a:latin typeface="Aptos"/>
                <a:ea typeface="Aptos"/>
                <a:cs typeface="Aptos"/>
              </a:rPr>
              <a:t>Governance &amp; refresh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2BB194-876E-4611-B754-7F42CEC6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3342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4B6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E46759-3087-47CF-BEE1-19320E8E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581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BUSINESS VALUE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74F4E1-3D24-4C69-AF62-C2689101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4296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B7A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B7A6"/>
                </a:solidFill>
                <a:latin typeface="Aptos"/>
                <a:ea typeface="Aptos"/>
                <a:cs typeface="Aptos"/>
              </a:rPr>
              <a:t>Portfolio risk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A701AE-40B2-4EC6-ABDF-20877332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842962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Detect credibility drawdowns before repricing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83C701-CF25-4618-8F56-EE58D898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84296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FAE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FAE45"/>
                </a:solidFill>
                <a:latin typeface="Aptos"/>
                <a:ea typeface="Aptos"/>
                <a:cs typeface="Aptos"/>
              </a:rPr>
              <a:t>Macro research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C80821-A7F0-4253-81FD-42879DBB9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42962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Compare institutions with consistent definitions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82D6FC-80B3-434E-A3CD-F044B2FA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726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B7A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B7A6"/>
                </a:solidFill>
                <a:latin typeface="Aptos"/>
                <a:ea typeface="Aptos"/>
                <a:cs typeface="Aptos"/>
              </a:rPr>
              <a:t>Executive reporting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03ED29-8F17-4DA1-AD37-CDA523CF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957262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Turn complex signals into clear actions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24CBC0-93F6-410F-BC64-7A140CD4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95726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FAE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FAE45"/>
                </a:solidFill>
                <a:latin typeface="Aptos"/>
                <a:ea typeface="Aptos"/>
                <a:cs typeface="Aptos"/>
              </a:rPr>
              <a:t>Model governance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C3E558-C8AA-4E00-BB1C-C7C2650E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9572625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Make every score traceable and auditable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00C30E-9096-4763-951B-975DDEF0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001375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model becomes valuable when someone can trust it, use it, and act on it.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5C3BA4-D283-4BCC-8D31-C9D60D14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95385D-6969-468A-932C-8C80E430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EA961C-4A9B-4339-8D96-FA2F5F92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BAAAF6-4C55-4994-9FB6-BC36ADBC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B20501-4FB8-4115-8426-1B97C9EC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3D9282-26B4-4B0B-A6E3-1B8D6265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510970-D86A-43AA-A323-F1589A3A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2D2FA9-9DA5-4AD4-8EF3-3D98C90C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7E8EB42-E2F4-40D0-82CD-D0F74B18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97F55B-BD4B-4C59-B739-312BADFA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4B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D48D5F-3F55-4A18-A746-855F476E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20300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D7E5E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7E5EE"/>
                </a:solidFill>
                <a:latin typeface="Aptos"/>
                <a:ea typeface="Aptos"/>
                <a:cs typeface="Aptos"/>
              </a:rPr>
              <a:t>SWIPE  →</a:t>
            </a:r>
          </a:p>
        </p:txBody>
      </p:sp>
    </p:spTree>
    <p:extLst>
      <p:ext uri="{BB962C8B-B14F-4D97-AF65-F5344CB8AC3E}">
        <p14:creationId xmlns:p14="http://schemas.microsoft.com/office/powerpoint/2010/main" val="18067804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0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F83977-EE9D-4AD3-8C02-8179B5E0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87E7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87E75"/>
                </a:solidFill>
                <a:latin typeface="Aptos"/>
                <a:ea typeface="Aptos"/>
                <a:cs typeface="Aptos"/>
              </a:rPr>
              <a:t>ANURAG SINGH  •  BUSINESS ANALYST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81758-7C1E-4F46-92D0-B87B5106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530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83C"/>
                </a:solidFill>
                <a:latin typeface="Aptos"/>
                <a:ea typeface="Aptos"/>
                <a:cs typeface="Aptos"/>
              </a:rPr>
              <a:t>CAREER POSITIONING  /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1B832-9574-4FDA-93A6-63B7EA0C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4D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89409-FA2A-496C-8745-BD154EA5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8763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425" b="1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4425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This is the kind of problem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425" b="1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4425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I want to solve.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F4BEC3-30A4-4680-A7DD-98081514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7E7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87E75"/>
                </a:solidFill>
                <a:latin typeface="Aptos"/>
                <a:ea typeface="Aptos"/>
                <a:cs typeface="Aptos"/>
              </a:rPr>
              <a:t>Turning messy data into trusted decisions.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9DC82-ACCF-4D7B-8C84-43D6F965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DATA AUDIT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B2DE1-6FF3-4CA4-AEE0-D99466A6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83C"/>
                </a:solidFill>
                <a:latin typeface="Aptos"/>
                <a:ea typeface="Aptos"/>
                <a:cs typeface="Aptos"/>
              </a:rPr>
              <a:t>Lineage, quality,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3C41B9-81F5-4090-881C-E1162110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9530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FAE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FAE45"/>
                </a:solidFill>
                <a:latin typeface="Aptos"/>
                <a:ea typeface="Aptos"/>
                <a:cs typeface="Aptos"/>
              </a:rPr>
              <a:t>REQUIREMENTS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85D60-2113-45E7-A628-92F2896F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38162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83C"/>
                </a:solidFill>
                <a:latin typeface="Aptos"/>
                <a:ea typeface="Aptos"/>
                <a:cs typeface="Aptos"/>
              </a:rPr>
              <a:t>Scope, users, definitions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FDECF3-0D53-4832-B14E-3A14BE83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645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0645A"/>
                </a:solidFill>
                <a:latin typeface="Aptos"/>
                <a:ea typeface="Aptos"/>
                <a:cs typeface="Aptos"/>
              </a:rPr>
              <a:t>RESEARCH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28D3BF-E373-43FD-9757-945B34C0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1037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83C"/>
                </a:solidFill>
                <a:latin typeface="Aptos"/>
                <a:ea typeface="Aptos"/>
                <a:cs typeface="Aptos"/>
              </a:rPr>
              <a:t>Market and competitor insight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AC855E-6226-4946-B74D-7D594140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3817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FAE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FAE45"/>
                </a:solidFill>
                <a:latin typeface="Aptos"/>
                <a:ea typeface="Aptos"/>
                <a:cs typeface="Aptos"/>
              </a:rPr>
              <a:t>STORYTELLING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92CC64-DC52-4F23-A1A3-0D379069B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6810375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83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283C"/>
                </a:solidFill>
                <a:latin typeface="Aptos"/>
                <a:ea typeface="Aptos"/>
                <a:cs typeface="Aptos"/>
              </a:rPr>
              <a:t>Executive dashboards and decks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F21A9B-4EB1-4D8F-A127-4006DAD0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239125"/>
            <a:ext cx="9144000" cy="1952625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71B2D"/>
          </a:solidFill>
          <a:ln xmlns:a="http://schemas.openxmlformats.org/drawingml/2006/main" w="9525">
            <a:solidFill>
              <a:srgbClr val="071B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91E8B9-265D-4B1F-98D1-512B13D1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6201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ANURAG SINGH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7713C3-E5D9-4D50-856F-52E9C0BD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1821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B7A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B7A6"/>
                </a:solidFill>
                <a:latin typeface="Aptos"/>
                <a:ea typeface="Aptos"/>
                <a:cs typeface="Aptos"/>
              </a:rPr>
              <a:t>MBA • B.Com • Business Analyst / Research Analyst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3297D9-F636-4318-97FD-8426749F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9667875"/>
            <a:ext cx="790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E5EE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7E5EE"/>
                </a:solidFill>
                <a:latin typeface="Aptos"/>
                <a:ea typeface="Aptos"/>
                <a:cs typeface="Aptos"/>
              </a:rPr>
              <a:t>Open to opportunities where analysis, research, and stakeholder thinking create business value.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E1792D-677A-4E84-B71A-E9AF24CA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668000"/>
            <a:ext cx="914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71B2D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71B2D"/>
                </a:solidFill>
                <a:latin typeface="Aptos"/>
                <a:ea typeface="Aptos"/>
                <a:cs typeface="Aptos"/>
              </a:rPr>
              <a:t>Would you trust a ranking before tracing its data?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4A8227-A243-4A6B-AA12-DF431FFA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258550"/>
            <a:ext cx="914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7E7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87E75"/>
                </a:solidFill>
                <a:latin typeface="Aptos"/>
                <a:ea typeface="Aptos"/>
                <a:cs typeface="Aptos"/>
              </a:rPr>
              <a:t>Comment your answer - and let's connect.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A2BD6F-9136-4FA3-904D-37B6EEDD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71575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1828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1828E"/>
                </a:solidFill>
                <a:latin typeface="Aptos"/>
                <a:ea typeface="Aptos"/>
                <a:cs typeface="Aptos"/>
              </a:rPr>
              <a:t>Data: FRED DGS10 project CSV. Logo/map assets: Wikimedia/Wikipedia, used for institutional identification.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DBE3AE-5596-4C0D-AB97-14985D9C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5F5FF8-8F69-4374-AFC9-3CCE3E07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CC0CDC-D746-4880-BCFB-AFF0DF6C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4173A1-3A78-47C1-89F9-FEB90003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3690E9-7614-440B-8920-E50497E6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BCCED8-8D06-4F50-97A3-4664AA2E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6C94E2-F972-4E48-BDC7-B7BF0987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6514FF-F155-48A2-87E0-0A16ECFDC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10FBF1-BC01-4E45-9545-8037BEBF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4ACC66-40B4-4020-9749-3022B91D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2192000"/>
            <a:ext cx="43815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B7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43B617-D69D-4FE4-A224-66FD0098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2030075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890A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890A1"/>
                </a:solidFill>
                <a:latin typeface="Aptos"/>
                <a:ea typeface="Aptos"/>
                <a:cs typeface="Aptos"/>
              </a:rPr>
              <a:t>LET'S CONNECT</a:t>
            </a:r>
          </a:p>
        </p:txBody>
      </p:sp>
    </p:spTree>
    <p:extLst>
      <p:ext uri="{BB962C8B-B14F-4D97-AF65-F5344CB8AC3E}">
        <p14:creationId xmlns:p14="http://schemas.microsoft.com/office/powerpoint/2010/main" val="786381890"/>
      </p:ext>
    </p:extLst>
  </p:cSld>
</p:sld>
</file>

<file path=ppt/theme/theme1.xml><?xml version="1.0" encoding="utf-8"?>
<a:theme xmlns:a="http://schemas.openxmlformats.org/drawingml/2006/main" name="ChatGPT">
  <a:themeElements>
    <a:clrScheme name="LinkedIn Analyst Case Study">
      <a:dk1>
        <a:srgbClr val="071B2D"/>
      </a:dk1>
      <a:lt1>
        <a:srgbClr val="FFFFFF"/>
      </a:lt1>
      <a:dk2>
        <a:srgbClr val="0E3049"/>
      </a:dk2>
      <a:lt2>
        <a:srgbClr val="F5F0E6"/>
      </a:lt2>
      <a:accent1>
        <a:srgbClr val="18B7A6"/>
      </a:accent1>
      <a:accent2>
        <a:srgbClr val="F0645A"/>
      </a:accent2>
      <a:accent3>
        <a:srgbClr val="DFAE45"/>
      </a:accent3>
      <a:accent4>
        <a:srgbClr val="64BDEB"/>
      </a:accent4>
      <a:accent5>
        <a:srgbClr val="57BE82"/>
      </a:accent5>
      <a:accent6>
        <a:srgbClr val="087E75"/>
      </a:accent6>
      <a:hlink>
        <a:srgbClr val="18B7A6"/>
      </a:hlink>
      <a:folHlink>
        <a:srgbClr val="64BDEB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inkedIn Analyst Case Stud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2026-06-25T23:29:17.3410000Z</dcterms:created>
  <dcterms:modified xsi:type="dcterms:W3CDTF">2026-06-25T23:29:17.3410000Z</dcterms:modified>
</coreProperties>
</file>